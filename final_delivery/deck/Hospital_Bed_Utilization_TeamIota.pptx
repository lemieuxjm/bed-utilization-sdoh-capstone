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6858000" cx="9144000"/>
  <p:notesSz cx="6858000" cy="9144000"/>
  <p:embeddedFontLst>
    <p:embeddedFont>
      <p:font typeface="Cabin Condensed SemiBold"/>
      <p:regular r:id="rId29"/>
      <p:bold r:id="rId30"/>
    </p:embeddedFont>
    <p:embeddedFont>
      <p:font typeface="News Cycle"/>
      <p:regular r:id="rId31"/>
      <p:bold r:id="rId32"/>
    </p:embeddedFont>
    <p:embeddedFont>
      <p:font typeface="Cabin Condense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g6/uaas9Qo6O+wYuY0V/S/EN4V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BEF352-18AB-4675-9D32-9B83AC7979A5}">
  <a:tblStyle styleId="{E0BEF352-18AB-4675-9D32-9B83AC7979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CabinCondensedSemiBol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ewsCycle-regular.fntdata"/><Relationship Id="rId30" Type="http://schemas.openxmlformats.org/officeDocument/2006/relationships/font" Target="fonts/CabinCondensedSemiBold-bold.fntdata"/><Relationship Id="rId11" Type="http://schemas.openxmlformats.org/officeDocument/2006/relationships/slide" Target="slides/slide4.xml"/><Relationship Id="rId33" Type="http://schemas.openxmlformats.org/officeDocument/2006/relationships/font" Target="fonts/CabinCondensed-regular.fntdata"/><Relationship Id="rId10" Type="http://schemas.openxmlformats.org/officeDocument/2006/relationships/slide" Target="slides/slide3.xml"/><Relationship Id="rId32" Type="http://schemas.openxmlformats.org/officeDocument/2006/relationships/font" Target="fonts/NewsCycle-bold.fntdata"/><Relationship Id="rId13" Type="http://schemas.openxmlformats.org/officeDocument/2006/relationships/slide" Target="slides/slide6.xml"/><Relationship Id="rId35" Type="http://customschemas.google.com/relationships/presentationmetadata" Target="metadata"/><Relationship Id="rId12" Type="http://schemas.openxmlformats.org/officeDocument/2006/relationships/slide" Target="slides/slide5.xml"/><Relationship Id="rId34" Type="http://schemas.openxmlformats.org/officeDocument/2006/relationships/font" Target="fonts/CabinCondensed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6f0661d04_0_556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6f0661d04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6f0661d04_0_432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56f0661d04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6f0661d04_0_1301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56f0661d04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6f0661d04_0_911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56f0661d04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6f0661d04_0_667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6f0661d04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6f0661d04_0_1189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56f0661d04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6f0661d04_0_1049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56f0661d04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6f0661d04_0_1183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6f0661d04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6f0661d04_0_1307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56f0661d04_0_1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6f0661d04_0_1426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6f0661d04_0_1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6f0661d04_0_1546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56f0661d04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56f0661d04_0_1676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56f0661d04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6f0661d04_0_2131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56f0661d04_0_2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6f0661d04_0_2260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6f0661d04_0_2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6f0661d04_0_2389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6f0661d04_0_2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6f0661d04_0_2266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56f0661d04_0_2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6f0661d04_0_6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56f0661d04_0_6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accen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6f0661d04_1_4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356f0661d04_1_4"/>
          <p:cNvSpPr txBox="1"/>
          <p:nvPr>
            <p:ph type="ctrTitle"/>
          </p:nvPr>
        </p:nvSpPr>
        <p:spPr>
          <a:xfrm>
            <a:off x="855300" y="2655767"/>
            <a:ext cx="46458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356f0661d04_1_4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E1FF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g356f0661d04_1_4"/>
          <p:cNvPicPr preferRelativeResize="0"/>
          <p:nvPr/>
        </p:nvPicPr>
        <p:blipFill rotWithShape="1">
          <a:blip r:embed="rId2">
            <a:alphaModFix/>
          </a:blip>
          <a:srcRect b="0" l="0" r="11016" t="18360"/>
          <a:stretch/>
        </p:blipFill>
        <p:spPr>
          <a:xfrm>
            <a:off x="5446725" y="1753633"/>
            <a:ext cx="3697275" cy="4532765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9803"/>
              </a:schemeClr>
            </a:outerShdw>
          </a:effectLst>
        </p:spPr>
      </p:pic>
      <p:sp>
        <p:nvSpPr>
          <p:cNvPr id="18" name="Google Shape;18;g356f0661d04_1_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6f0661d04_1_9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56f0661d04_1_9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56f0661d04_1_9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g356f0661d04_1_9"/>
          <p:cNvGrpSpPr/>
          <p:nvPr/>
        </p:nvGrpSpPr>
        <p:grpSpPr>
          <a:xfrm>
            <a:off x="145816" y="1159833"/>
            <a:ext cx="232524" cy="437678"/>
            <a:chOff x="7938657" y="1397104"/>
            <a:chExt cx="323850" cy="457200"/>
          </a:xfrm>
        </p:grpSpPr>
        <p:sp>
          <p:nvSpPr>
            <p:cNvPr id="24" name="Google Shape;24;g356f0661d04_1_9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g356f0661d04_1_9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g356f0661d04_1_9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g356f0661d04_1_9"/>
          <p:cNvSpPr txBox="1"/>
          <p:nvPr>
            <p:ph idx="1" type="body"/>
          </p:nvPr>
        </p:nvSpPr>
        <p:spPr>
          <a:xfrm>
            <a:off x="855275" y="1805267"/>
            <a:ext cx="2250600" cy="4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8" name="Google Shape;28;g356f0661d04_1_9"/>
          <p:cNvSpPr txBox="1"/>
          <p:nvPr>
            <p:ph idx="2" type="body"/>
          </p:nvPr>
        </p:nvSpPr>
        <p:spPr>
          <a:xfrm>
            <a:off x="3421480" y="1805267"/>
            <a:ext cx="2250600" cy="4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9" name="Google Shape;29;g356f0661d04_1_9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g356f0661d04_1_9"/>
          <p:cNvPicPr preferRelativeResize="0"/>
          <p:nvPr/>
        </p:nvPicPr>
        <p:blipFill rotWithShape="1">
          <a:blip r:embed="rId2">
            <a:alphaModFix/>
          </a:blip>
          <a:srcRect b="0" l="1586" r="1586" t="0"/>
          <a:stretch/>
        </p:blipFill>
        <p:spPr>
          <a:xfrm>
            <a:off x="5757150" y="1510333"/>
            <a:ext cx="3386850" cy="4674463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9803"/>
              </a:scheme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56f0661d04_1_21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56f0661d04_1_21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56f0661d04_1_21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56f0661d04_1_25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56f0661d04_1_25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56f0661d04_1_25"/>
          <p:cNvSpPr txBox="1"/>
          <p:nvPr>
            <p:ph type="ctrTitle"/>
          </p:nvPr>
        </p:nvSpPr>
        <p:spPr>
          <a:xfrm>
            <a:off x="939450" y="2839867"/>
            <a:ext cx="47754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9" name="Google Shape;39;g356f0661d04_1_25"/>
          <p:cNvSpPr txBox="1"/>
          <p:nvPr>
            <p:ph idx="1" type="subTitle"/>
          </p:nvPr>
        </p:nvSpPr>
        <p:spPr>
          <a:xfrm>
            <a:off x="939450" y="3550967"/>
            <a:ext cx="47754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40" name="Google Shape;40;g356f0661d04_1_25"/>
          <p:cNvPicPr preferRelativeResize="0"/>
          <p:nvPr/>
        </p:nvPicPr>
        <p:blipFill rotWithShape="1">
          <a:blip r:embed="rId2">
            <a:alphaModFix/>
          </a:blip>
          <a:srcRect b="0" l="0" r="3660" t="0"/>
          <a:stretch/>
        </p:blipFill>
        <p:spPr>
          <a:xfrm>
            <a:off x="6164275" y="1510333"/>
            <a:ext cx="2979725" cy="467446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9803"/>
              </a:schemeClr>
            </a:outerShdw>
          </a:effectLst>
        </p:spPr>
      </p:pic>
      <p:sp>
        <p:nvSpPr>
          <p:cNvPr id="41" name="Google Shape;41;g356f0661d04_1_25"/>
          <p:cNvSpPr/>
          <p:nvPr/>
        </p:nvSpPr>
        <p:spPr>
          <a:xfrm rot="10800000">
            <a:off x="-143577" y="2788200"/>
            <a:ext cx="961200" cy="12816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56f0661d04_1_2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lt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56f0661d04_1_32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56f0661d04_1_32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56f0661d04_1_32"/>
          <p:cNvSpPr txBox="1"/>
          <p:nvPr>
            <p:ph idx="1" type="body"/>
          </p:nvPr>
        </p:nvSpPr>
        <p:spPr>
          <a:xfrm>
            <a:off x="855300" y="940867"/>
            <a:ext cx="4938000" cy="52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•"/>
              <a:defRPr sz="3200">
                <a:solidFill>
                  <a:schemeClr val="accent2"/>
                </a:solidFill>
              </a:defRPr>
            </a:lvl1pPr>
            <a:lvl2pPr indent="-431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•"/>
              <a:defRPr sz="3200">
                <a:solidFill>
                  <a:schemeClr val="accent2"/>
                </a:solidFill>
              </a:defRPr>
            </a:lvl2pPr>
            <a:lvl3pPr indent="-431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•"/>
              <a:defRPr sz="3200">
                <a:solidFill>
                  <a:schemeClr val="accent2"/>
                </a:solidFill>
              </a:defRPr>
            </a:lvl3pPr>
            <a:lvl4pPr indent="-431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•"/>
              <a:defRPr sz="3200">
                <a:solidFill>
                  <a:schemeClr val="accent2"/>
                </a:solidFill>
              </a:defRPr>
            </a:lvl4pPr>
            <a:lvl5pPr indent="-431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○"/>
              <a:defRPr sz="3200">
                <a:solidFill>
                  <a:schemeClr val="accent2"/>
                </a:solidFill>
              </a:defRPr>
            </a:lvl5pPr>
            <a:lvl6pPr indent="-431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■"/>
              <a:defRPr sz="3200">
                <a:solidFill>
                  <a:schemeClr val="accent2"/>
                </a:solidFill>
              </a:defRPr>
            </a:lvl6pPr>
            <a:lvl7pPr indent="-431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●"/>
              <a:defRPr sz="3200">
                <a:solidFill>
                  <a:schemeClr val="accent2"/>
                </a:solidFill>
              </a:defRPr>
            </a:lvl7pPr>
            <a:lvl8pPr indent="-431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○"/>
              <a:defRPr sz="3200">
                <a:solidFill>
                  <a:schemeClr val="accent2"/>
                </a:solidFill>
              </a:defRPr>
            </a:lvl8pPr>
            <a:lvl9pPr indent="-431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■"/>
              <a:defRPr sz="3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7" name="Google Shape;47;g356f0661d04_1_32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g356f0661d04_1_32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56f0661d04_1_32"/>
          <p:cNvSpPr txBox="1"/>
          <p:nvPr/>
        </p:nvSpPr>
        <p:spPr>
          <a:xfrm>
            <a:off x="-56075" y="943067"/>
            <a:ext cx="6372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rPr>
              <a:t>“</a:t>
            </a:r>
            <a:endParaRPr b="1" i="0" sz="7200" u="none" cap="none" strike="noStrike">
              <a:solidFill>
                <a:schemeClr val="lt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50" name="Google Shape;50;g356f0661d04_1_32"/>
          <p:cNvPicPr preferRelativeResize="0"/>
          <p:nvPr/>
        </p:nvPicPr>
        <p:blipFill rotWithShape="1">
          <a:blip r:embed="rId2">
            <a:alphaModFix/>
          </a:blip>
          <a:srcRect b="0" l="0" r="3175" t="0"/>
          <a:stretch/>
        </p:blipFill>
        <p:spPr>
          <a:xfrm>
            <a:off x="5757150" y="1510333"/>
            <a:ext cx="3386850" cy="467446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9803"/>
              </a:scheme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56f0661d04_1_40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56f0661d04_1_40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56f0661d04_1_40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g356f0661d04_1_40"/>
          <p:cNvGrpSpPr/>
          <p:nvPr/>
        </p:nvGrpSpPr>
        <p:grpSpPr>
          <a:xfrm>
            <a:off x="145816" y="1159833"/>
            <a:ext cx="232524" cy="437678"/>
            <a:chOff x="7938657" y="1397104"/>
            <a:chExt cx="323850" cy="457200"/>
          </a:xfrm>
        </p:grpSpPr>
        <p:sp>
          <p:nvSpPr>
            <p:cNvPr id="56" name="Google Shape;56;g356f0661d04_1_40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g356f0661d04_1_40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g356f0661d04_1_40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9" name="Google Shape;59;g356f0661d04_1_40"/>
          <p:cNvSpPr txBox="1"/>
          <p:nvPr>
            <p:ph idx="1" type="body"/>
          </p:nvPr>
        </p:nvSpPr>
        <p:spPr>
          <a:xfrm>
            <a:off x="855300" y="1805267"/>
            <a:ext cx="4197300" cy="4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0" name="Google Shape;60;g356f0661d04_1_40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g356f0661d04_1_40"/>
          <p:cNvPicPr preferRelativeResize="0"/>
          <p:nvPr/>
        </p:nvPicPr>
        <p:blipFill rotWithShape="1">
          <a:blip r:embed="rId2">
            <a:alphaModFix/>
          </a:blip>
          <a:srcRect b="0" l="0" r="2930" t="0"/>
          <a:stretch/>
        </p:blipFill>
        <p:spPr>
          <a:xfrm>
            <a:off x="5091525" y="1510333"/>
            <a:ext cx="4052474" cy="4674468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9803"/>
              </a:schemeClr>
            </a:outerShdw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6f0661d04_1_51"/>
          <p:cNvSpPr/>
          <p:nvPr/>
        </p:nvSpPr>
        <p:spPr>
          <a:xfrm>
            <a:off x="5143900" y="301200"/>
            <a:ext cx="4691700" cy="62556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56f0661d04_1_51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g356f0661d04_1_51"/>
          <p:cNvGrpSpPr/>
          <p:nvPr/>
        </p:nvGrpSpPr>
        <p:grpSpPr>
          <a:xfrm>
            <a:off x="145816" y="1159833"/>
            <a:ext cx="232524" cy="437678"/>
            <a:chOff x="7938657" y="1397104"/>
            <a:chExt cx="323850" cy="457200"/>
          </a:xfrm>
        </p:grpSpPr>
        <p:sp>
          <p:nvSpPr>
            <p:cNvPr id="66" name="Google Shape;66;g356f0661d04_1_51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g356f0661d04_1_51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g356f0661d04_1_51"/>
          <p:cNvSpPr txBox="1"/>
          <p:nvPr>
            <p:ph type="title"/>
          </p:nvPr>
        </p:nvSpPr>
        <p:spPr>
          <a:xfrm>
            <a:off x="855300" y="879267"/>
            <a:ext cx="40890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9" name="Google Shape;69;g356f0661d04_1_51"/>
          <p:cNvSpPr txBox="1"/>
          <p:nvPr>
            <p:ph idx="1" type="body"/>
          </p:nvPr>
        </p:nvSpPr>
        <p:spPr>
          <a:xfrm>
            <a:off x="855300" y="2236000"/>
            <a:ext cx="4089000" cy="3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70" name="Google Shape;70;g356f0661d04_1_51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6f0661d04_1_60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56f0661d04_1_60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56f0661d04_1_60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g356f0661d04_1_60"/>
          <p:cNvGrpSpPr/>
          <p:nvPr/>
        </p:nvGrpSpPr>
        <p:grpSpPr>
          <a:xfrm>
            <a:off x="145816" y="1159833"/>
            <a:ext cx="232524" cy="437678"/>
            <a:chOff x="7938657" y="1397104"/>
            <a:chExt cx="323850" cy="457200"/>
          </a:xfrm>
        </p:grpSpPr>
        <p:sp>
          <p:nvSpPr>
            <p:cNvPr id="76" name="Google Shape;76;g356f0661d04_1_60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g356f0661d04_1_60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g356f0661d04_1_60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9" name="Google Shape;79;g356f0661d04_1_60"/>
          <p:cNvSpPr txBox="1"/>
          <p:nvPr>
            <p:ph idx="1" type="body"/>
          </p:nvPr>
        </p:nvSpPr>
        <p:spPr>
          <a:xfrm>
            <a:off x="855300" y="1805267"/>
            <a:ext cx="1606500" cy="4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0" name="Google Shape;80;g356f0661d04_1_60"/>
          <p:cNvSpPr txBox="1"/>
          <p:nvPr>
            <p:ph idx="2" type="body"/>
          </p:nvPr>
        </p:nvSpPr>
        <p:spPr>
          <a:xfrm>
            <a:off x="2630611" y="1805267"/>
            <a:ext cx="1606500" cy="4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1" name="Google Shape;81;g356f0661d04_1_60"/>
          <p:cNvSpPr txBox="1"/>
          <p:nvPr>
            <p:ph idx="3" type="body"/>
          </p:nvPr>
        </p:nvSpPr>
        <p:spPr>
          <a:xfrm>
            <a:off x="4405922" y="1805267"/>
            <a:ext cx="1606500" cy="4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2" name="Google Shape;82;g356f0661d04_1_60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g356f0661d04_1_60"/>
          <p:cNvPicPr preferRelativeResize="0"/>
          <p:nvPr/>
        </p:nvPicPr>
        <p:blipFill rotWithShape="1">
          <a:blip r:embed="rId2">
            <a:alphaModFix/>
          </a:blip>
          <a:srcRect b="0" l="0" r="3660" t="0"/>
          <a:stretch/>
        </p:blipFill>
        <p:spPr>
          <a:xfrm>
            <a:off x="6164275" y="1510333"/>
            <a:ext cx="2979725" cy="467446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9803"/>
              </a:schemeClr>
            </a:outerShdw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BLANK_1_1">
    <p:bg>
      <p:bgPr>
        <a:solidFill>
          <a:schemeClr val="accen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g356f0661d04_1_73"/>
          <p:cNvGrpSpPr/>
          <p:nvPr/>
        </p:nvGrpSpPr>
        <p:grpSpPr>
          <a:xfrm>
            <a:off x="-7278" y="-116"/>
            <a:ext cx="9154508" cy="6862952"/>
            <a:chOff x="2415126" y="2459954"/>
            <a:chExt cx="3373193" cy="1897678"/>
          </a:xfrm>
        </p:grpSpPr>
        <p:sp>
          <p:nvSpPr>
            <p:cNvPr id="86" name="Google Shape;86;g356f0661d04_1_73"/>
            <p:cNvSpPr/>
            <p:nvPr/>
          </p:nvSpPr>
          <p:spPr>
            <a:xfrm>
              <a:off x="2415126" y="2459954"/>
              <a:ext cx="1233400" cy="1897678"/>
            </a:xfrm>
            <a:custGeom>
              <a:rect b="b" l="l" r="r" t="t"/>
              <a:pathLst>
                <a:path extrusionOk="0" h="1897678" w="1233400">
                  <a:moveTo>
                    <a:pt x="636027" y="948839"/>
                  </a:moveTo>
                  <a:cubicBezTo>
                    <a:pt x="636027" y="530634"/>
                    <a:pt x="880128" y="169454"/>
                    <a:pt x="1233609" y="0"/>
                  </a:cubicBezTo>
                  <a:lnTo>
                    <a:pt x="0" y="0"/>
                  </a:lnTo>
                  <a:lnTo>
                    <a:pt x="0" y="1897679"/>
                  </a:lnTo>
                  <a:lnTo>
                    <a:pt x="1233609" y="1897679"/>
                  </a:lnTo>
                  <a:cubicBezTo>
                    <a:pt x="880128" y="1728225"/>
                    <a:pt x="636027" y="1367045"/>
                    <a:pt x="636027" y="948839"/>
                  </a:cubicBez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g356f0661d04_1_73"/>
            <p:cNvSpPr/>
            <p:nvPr/>
          </p:nvSpPr>
          <p:spPr>
            <a:xfrm>
              <a:off x="4556676" y="2459954"/>
              <a:ext cx="1231643" cy="1897678"/>
            </a:xfrm>
            <a:custGeom>
              <a:rect b="b" l="l" r="r" t="t"/>
              <a:pathLst>
                <a:path extrusionOk="0" h="1897678" w="1231643">
                  <a:moveTo>
                    <a:pt x="0" y="0"/>
                  </a:moveTo>
                  <a:cubicBezTo>
                    <a:pt x="353481" y="169454"/>
                    <a:pt x="597582" y="530634"/>
                    <a:pt x="597582" y="948839"/>
                  </a:cubicBezTo>
                  <a:cubicBezTo>
                    <a:pt x="597582" y="1367045"/>
                    <a:pt x="353481" y="1728225"/>
                    <a:pt x="0" y="1897679"/>
                  </a:cubicBezTo>
                  <a:lnTo>
                    <a:pt x="1231852" y="1897679"/>
                  </a:lnTo>
                  <a:lnTo>
                    <a:pt x="1231852" y="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g356f0661d04_1_73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f0661d04_1_78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56f0661d04_1_78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56f0661d04_1_78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g356f0661d04_1_78"/>
          <p:cNvGrpSpPr/>
          <p:nvPr/>
        </p:nvGrpSpPr>
        <p:grpSpPr>
          <a:xfrm>
            <a:off x="145816" y="1159833"/>
            <a:ext cx="232524" cy="437678"/>
            <a:chOff x="7938657" y="1397104"/>
            <a:chExt cx="323850" cy="457200"/>
          </a:xfrm>
        </p:grpSpPr>
        <p:sp>
          <p:nvSpPr>
            <p:cNvPr id="94" name="Google Shape;94;g356f0661d04_1_78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g356f0661d04_1_78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g356f0661d04_1_78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7" name="Google Shape;97;g356f0661d04_1_78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g356f0661d04_1_78"/>
          <p:cNvPicPr preferRelativeResize="0"/>
          <p:nvPr/>
        </p:nvPicPr>
        <p:blipFill rotWithShape="1">
          <a:blip r:embed="rId2">
            <a:alphaModFix/>
          </a:blip>
          <a:srcRect b="0" l="0" r="1350" t="0"/>
          <a:stretch/>
        </p:blipFill>
        <p:spPr>
          <a:xfrm>
            <a:off x="5247875" y="1510333"/>
            <a:ext cx="3896126" cy="350585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9803"/>
              </a:schemeClr>
            </a:outerShdw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_1">
    <p:bg>
      <p:bgPr>
        <a:solidFill>
          <a:schemeClr val="accen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6f0661d04_1_88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56f0661d04_1_88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E1FF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56f0661d04_1_88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6f0661d04_1_92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56f0661d04_1_92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56f0661d04_1_92"/>
          <p:cNvSpPr/>
          <p:nvPr/>
        </p:nvSpPr>
        <p:spPr>
          <a:xfrm rot="10800000">
            <a:off x="-112168" y="55032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56f0661d04_1_92"/>
          <p:cNvSpPr txBox="1"/>
          <p:nvPr>
            <p:ph idx="1" type="body"/>
          </p:nvPr>
        </p:nvSpPr>
        <p:spPr>
          <a:xfrm>
            <a:off x="855300" y="5816217"/>
            <a:ext cx="74334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108" name="Google Shape;108;g356f0661d04_1_92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9" name="Google Shape;109;g356f0661d04_1_92"/>
          <p:cNvGrpSpPr/>
          <p:nvPr/>
        </p:nvGrpSpPr>
        <p:grpSpPr>
          <a:xfrm>
            <a:off x="145816" y="5783933"/>
            <a:ext cx="232524" cy="437678"/>
            <a:chOff x="7938657" y="1397104"/>
            <a:chExt cx="323850" cy="457200"/>
          </a:xfrm>
        </p:grpSpPr>
        <p:sp>
          <p:nvSpPr>
            <p:cNvPr id="110" name="Google Shape;110;g356f0661d04_1_92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g356f0661d04_1_92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accen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6f0661d04_0_2160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56f0661d04_0_2160"/>
          <p:cNvSpPr txBox="1"/>
          <p:nvPr>
            <p:ph type="ctrTitle"/>
          </p:nvPr>
        </p:nvSpPr>
        <p:spPr>
          <a:xfrm>
            <a:off x="855300" y="2655767"/>
            <a:ext cx="4645800" cy="154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g356f0661d04_0_2160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E1FF">
              <a:alpha val="223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g356f0661d04_0_2160"/>
          <p:cNvPicPr preferRelativeResize="0"/>
          <p:nvPr/>
        </p:nvPicPr>
        <p:blipFill rotWithShape="1">
          <a:blip r:embed="rId2">
            <a:alphaModFix/>
          </a:blip>
          <a:srcRect b="0" l="0" r="11016" t="18360"/>
          <a:stretch/>
        </p:blipFill>
        <p:spPr>
          <a:xfrm>
            <a:off x="5446725" y="1753633"/>
            <a:ext cx="3697275" cy="453276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10000"/>
              </a:schemeClr>
            </a:outerShdw>
          </a:effectLst>
        </p:spPr>
      </p:pic>
      <p:sp>
        <p:nvSpPr>
          <p:cNvPr id="121" name="Google Shape;121;g356f0661d04_0_216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6f0661d04_0_2165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56f0661d04_0_2165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56f0661d04_0_2165"/>
          <p:cNvSpPr txBox="1"/>
          <p:nvPr>
            <p:ph type="ctrTitle"/>
          </p:nvPr>
        </p:nvSpPr>
        <p:spPr>
          <a:xfrm>
            <a:off x="939450" y="2839867"/>
            <a:ext cx="4775400" cy="68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26" name="Google Shape;126;g356f0661d04_0_2165"/>
          <p:cNvSpPr txBox="1"/>
          <p:nvPr>
            <p:ph idx="1" type="subTitle"/>
          </p:nvPr>
        </p:nvSpPr>
        <p:spPr>
          <a:xfrm>
            <a:off x="939450" y="3550967"/>
            <a:ext cx="4775400" cy="4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27" name="Google Shape;127;g356f0661d04_0_2165"/>
          <p:cNvPicPr preferRelativeResize="0"/>
          <p:nvPr/>
        </p:nvPicPr>
        <p:blipFill rotWithShape="1">
          <a:blip r:embed="rId2">
            <a:alphaModFix/>
          </a:blip>
          <a:srcRect b="0" l="0" r="3660" t="0"/>
          <a:stretch/>
        </p:blipFill>
        <p:spPr>
          <a:xfrm>
            <a:off x="6164275" y="1510333"/>
            <a:ext cx="2979725" cy="467446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10000"/>
              </a:schemeClr>
            </a:outerShdw>
          </a:effectLst>
        </p:spPr>
      </p:pic>
      <p:sp>
        <p:nvSpPr>
          <p:cNvPr id="128" name="Google Shape;128;g356f0661d04_0_2165"/>
          <p:cNvSpPr/>
          <p:nvPr/>
        </p:nvSpPr>
        <p:spPr>
          <a:xfrm rot="10800000">
            <a:off x="-143577" y="2788200"/>
            <a:ext cx="961200" cy="12816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56f0661d04_0_216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6f0661d04_0_2172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56f0661d04_0_2172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56f0661d04_0_2172"/>
          <p:cNvSpPr txBox="1"/>
          <p:nvPr>
            <p:ph idx="1" type="body"/>
          </p:nvPr>
        </p:nvSpPr>
        <p:spPr>
          <a:xfrm>
            <a:off x="855300" y="940867"/>
            <a:ext cx="4938000" cy="52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•"/>
              <a:defRPr sz="3200">
                <a:solidFill>
                  <a:schemeClr val="accent2"/>
                </a:solidFill>
              </a:defRPr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•"/>
              <a:defRPr sz="3200">
                <a:solidFill>
                  <a:schemeClr val="accent2"/>
                </a:solidFill>
              </a:defRPr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•"/>
              <a:defRPr sz="3200">
                <a:solidFill>
                  <a:schemeClr val="accent2"/>
                </a:solidFill>
              </a:defRPr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•"/>
              <a:defRPr sz="3200">
                <a:solidFill>
                  <a:schemeClr val="accent2"/>
                </a:solidFill>
              </a:defRPr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○"/>
              <a:defRPr sz="3200">
                <a:solidFill>
                  <a:schemeClr val="accent2"/>
                </a:solidFill>
              </a:defRPr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■"/>
              <a:defRPr sz="3200">
                <a:solidFill>
                  <a:schemeClr val="accent2"/>
                </a:solidFill>
              </a:defRPr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●"/>
              <a:defRPr sz="3200">
                <a:solidFill>
                  <a:schemeClr val="accent2"/>
                </a:solidFill>
              </a:defRPr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○"/>
              <a:defRPr sz="3200">
                <a:solidFill>
                  <a:schemeClr val="accent2"/>
                </a:solidFill>
              </a:defRPr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Char char="■"/>
              <a:defRPr sz="3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4" name="Google Shape;134;g356f0661d04_0_2172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g356f0661d04_0_2172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56f0661d04_0_2172"/>
          <p:cNvSpPr txBox="1"/>
          <p:nvPr/>
        </p:nvSpPr>
        <p:spPr>
          <a:xfrm>
            <a:off x="-56075" y="943067"/>
            <a:ext cx="6372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rPr>
              <a:t>“</a:t>
            </a:r>
            <a:endParaRPr b="1" sz="7200">
              <a:solidFill>
                <a:schemeClr val="lt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137" name="Google Shape;137;g356f0661d04_0_2172"/>
          <p:cNvPicPr preferRelativeResize="0"/>
          <p:nvPr/>
        </p:nvPicPr>
        <p:blipFill rotWithShape="1">
          <a:blip r:embed="rId2">
            <a:alphaModFix/>
          </a:blip>
          <a:srcRect b="0" l="0" r="3175" t="0"/>
          <a:stretch/>
        </p:blipFill>
        <p:spPr>
          <a:xfrm>
            <a:off x="5757150" y="1510333"/>
            <a:ext cx="3386850" cy="467446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10000"/>
              </a:schemeClr>
            </a:outerShdw>
          </a:effectLst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6f0661d04_0_2180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56f0661d04_0_2180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56f0661d04_0_2180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g356f0661d04_0_2180"/>
          <p:cNvGrpSpPr/>
          <p:nvPr/>
        </p:nvGrpSpPr>
        <p:grpSpPr>
          <a:xfrm>
            <a:off x="145809" y="1159835"/>
            <a:ext cx="232524" cy="437678"/>
            <a:chOff x="7938657" y="1397104"/>
            <a:chExt cx="323850" cy="457200"/>
          </a:xfrm>
        </p:grpSpPr>
        <p:sp>
          <p:nvSpPr>
            <p:cNvPr id="143" name="Google Shape;143;g356f0661d04_0_2180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g356f0661d04_0_2180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g356f0661d04_0_2180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6" name="Google Shape;146;g356f0661d04_0_2180"/>
          <p:cNvSpPr txBox="1"/>
          <p:nvPr>
            <p:ph idx="1" type="body"/>
          </p:nvPr>
        </p:nvSpPr>
        <p:spPr>
          <a:xfrm>
            <a:off x="855300" y="1805267"/>
            <a:ext cx="4197300" cy="40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•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47" name="Google Shape;147;g356f0661d04_0_2180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8" name="Google Shape;148;g356f0661d04_0_2180"/>
          <p:cNvPicPr preferRelativeResize="0"/>
          <p:nvPr/>
        </p:nvPicPr>
        <p:blipFill rotWithShape="1">
          <a:blip r:embed="rId2">
            <a:alphaModFix/>
          </a:blip>
          <a:srcRect b="0" l="0" r="2931" t="0"/>
          <a:stretch/>
        </p:blipFill>
        <p:spPr>
          <a:xfrm>
            <a:off x="5091525" y="1510333"/>
            <a:ext cx="4052474" cy="4674468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10000"/>
              </a:schemeClr>
            </a:outerShdw>
          </a:effectLst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6f0661d04_0_2191"/>
          <p:cNvSpPr/>
          <p:nvPr/>
        </p:nvSpPr>
        <p:spPr>
          <a:xfrm>
            <a:off x="5143900" y="301200"/>
            <a:ext cx="4691700" cy="62556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56f0661d04_0_2191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g356f0661d04_0_2191"/>
          <p:cNvGrpSpPr/>
          <p:nvPr/>
        </p:nvGrpSpPr>
        <p:grpSpPr>
          <a:xfrm>
            <a:off x="145809" y="1159835"/>
            <a:ext cx="232524" cy="437678"/>
            <a:chOff x="7938657" y="1397104"/>
            <a:chExt cx="323850" cy="457200"/>
          </a:xfrm>
        </p:grpSpPr>
        <p:sp>
          <p:nvSpPr>
            <p:cNvPr id="153" name="Google Shape;153;g356f0661d04_0_2191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56f0661d04_0_2191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56f0661d04_0_2191"/>
          <p:cNvSpPr txBox="1"/>
          <p:nvPr>
            <p:ph type="title"/>
          </p:nvPr>
        </p:nvSpPr>
        <p:spPr>
          <a:xfrm>
            <a:off x="855300" y="879267"/>
            <a:ext cx="40890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6" name="Google Shape;156;g356f0661d04_0_2191"/>
          <p:cNvSpPr txBox="1"/>
          <p:nvPr>
            <p:ph idx="1" type="body"/>
          </p:nvPr>
        </p:nvSpPr>
        <p:spPr>
          <a:xfrm>
            <a:off x="855300" y="2236000"/>
            <a:ext cx="4089000" cy="36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•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57" name="Google Shape;157;g356f0661d04_0_2191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6f0661d04_0_2200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56f0661d04_0_2200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56f0661d04_0_2200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g356f0661d04_0_2200"/>
          <p:cNvGrpSpPr/>
          <p:nvPr/>
        </p:nvGrpSpPr>
        <p:grpSpPr>
          <a:xfrm>
            <a:off x="145809" y="1159835"/>
            <a:ext cx="232524" cy="437678"/>
            <a:chOff x="7938657" y="1397104"/>
            <a:chExt cx="323850" cy="457200"/>
          </a:xfrm>
        </p:grpSpPr>
        <p:sp>
          <p:nvSpPr>
            <p:cNvPr id="163" name="Google Shape;163;g356f0661d04_0_2200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g356f0661d04_0_2200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g356f0661d04_0_2200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6" name="Google Shape;166;g356f0661d04_0_2200"/>
          <p:cNvSpPr txBox="1"/>
          <p:nvPr>
            <p:ph idx="1" type="body"/>
          </p:nvPr>
        </p:nvSpPr>
        <p:spPr>
          <a:xfrm>
            <a:off x="855275" y="1805267"/>
            <a:ext cx="2250600" cy="43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67" name="Google Shape;167;g356f0661d04_0_2200"/>
          <p:cNvSpPr txBox="1"/>
          <p:nvPr>
            <p:ph idx="2" type="body"/>
          </p:nvPr>
        </p:nvSpPr>
        <p:spPr>
          <a:xfrm>
            <a:off x="3421480" y="1805267"/>
            <a:ext cx="2250600" cy="43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68" name="Google Shape;168;g356f0661d04_0_2200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9" name="Google Shape;169;g356f0661d04_0_2200"/>
          <p:cNvPicPr preferRelativeResize="0"/>
          <p:nvPr/>
        </p:nvPicPr>
        <p:blipFill rotWithShape="1">
          <a:blip r:embed="rId2">
            <a:alphaModFix/>
          </a:blip>
          <a:srcRect b="0" l="1587" r="1587" t="0"/>
          <a:stretch/>
        </p:blipFill>
        <p:spPr>
          <a:xfrm>
            <a:off x="5757150" y="1510333"/>
            <a:ext cx="3386850" cy="4674463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10000"/>
              </a:schemeClr>
            </a:outerShdw>
          </a:effectLst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6f0661d04_0_2212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56f0661d04_0_2212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56f0661d04_0_2212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g356f0661d04_0_2212"/>
          <p:cNvGrpSpPr/>
          <p:nvPr/>
        </p:nvGrpSpPr>
        <p:grpSpPr>
          <a:xfrm>
            <a:off x="145809" y="1159835"/>
            <a:ext cx="232524" cy="437678"/>
            <a:chOff x="7938657" y="1397104"/>
            <a:chExt cx="323850" cy="457200"/>
          </a:xfrm>
        </p:grpSpPr>
        <p:sp>
          <p:nvSpPr>
            <p:cNvPr id="175" name="Google Shape;175;g356f0661d04_0_2212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g356f0661d04_0_2212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56f0661d04_0_2212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8" name="Google Shape;178;g356f0661d04_0_2212"/>
          <p:cNvSpPr txBox="1"/>
          <p:nvPr>
            <p:ph idx="1" type="body"/>
          </p:nvPr>
        </p:nvSpPr>
        <p:spPr>
          <a:xfrm>
            <a:off x="855300" y="1805267"/>
            <a:ext cx="1606500" cy="43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79" name="Google Shape;179;g356f0661d04_0_2212"/>
          <p:cNvSpPr txBox="1"/>
          <p:nvPr>
            <p:ph idx="2" type="body"/>
          </p:nvPr>
        </p:nvSpPr>
        <p:spPr>
          <a:xfrm>
            <a:off x="2630611" y="1805267"/>
            <a:ext cx="1606500" cy="43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0" name="Google Shape;180;g356f0661d04_0_2212"/>
          <p:cNvSpPr txBox="1"/>
          <p:nvPr>
            <p:ph idx="3" type="body"/>
          </p:nvPr>
        </p:nvSpPr>
        <p:spPr>
          <a:xfrm>
            <a:off x="4405922" y="1805267"/>
            <a:ext cx="1606500" cy="43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1" name="Google Shape;181;g356f0661d04_0_2212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2" name="Google Shape;182;g356f0661d04_0_2212"/>
          <p:cNvPicPr preferRelativeResize="0"/>
          <p:nvPr/>
        </p:nvPicPr>
        <p:blipFill rotWithShape="1">
          <a:blip r:embed="rId2">
            <a:alphaModFix/>
          </a:blip>
          <a:srcRect b="0" l="0" r="3660" t="0"/>
          <a:stretch/>
        </p:blipFill>
        <p:spPr>
          <a:xfrm>
            <a:off x="6164275" y="1510333"/>
            <a:ext cx="2979725" cy="467446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10000"/>
              </a:schemeClr>
            </a:outerShdw>
          </a:effectLst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6f0661d04_0_2225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56f0661d04_0_2225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56f0661d04_0_2225"/>
          <p:cNvSpPr/>
          <p:nvPr/>
        </p:nvSpPr>
        <p:spPr>
          <a:xfrm rot="10800000">
            <a:off x="-112168" y="8791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g356f0661d04_0_2225"/>
          <p:cNvGrpSpPr/>
          <p:nvPr/>
        </p:nvGrpSpPr>
        <p:grpSpPr>
          <a:xfrm>
            <a:off x="145809" y="1159835"/>
            <a:ext cx="232524" cy="437678"/>
            <a:chOff x="7938657" y="1397104"/>
            <a:chExt cx="323850" cy="457200"/>
          </a:xfrm>
        </p:grpSpPr>
        <p:sp>
          <p:nvSpPr>
            <p:cNvPr id="188" name="Google Shape;188;g356f0661d04_0_2225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g356f0661d04_0_2225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g356f0661d04_0_2225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1" name="Google Shape;191;g356f0661d04_0_2225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g356f0661d04_0_2225"/>
          <p:cNvPicPr preferRelativeResize="0"/>
          <p:nvPr/>
        </p:nvPicPr>
        <p:blipFill rotWithShape="1">
          <a:blip r:embed="rId2">
            <a:alphaModFix/>
          </a:blip>
          <a:srcRect b="0" l="0" r="1351" t="0"/>
          <a:stretch/>
        </p:blipFill>
        <p:spPr>
          <a:xfrm>
            <a:off x="5247875" y="1510333"/>
            <a:ext cx="3896126" cy="350585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28575">
              <a:schemeClr val="dk1">
                <a:alpha val="10000"/>
              </a:schemeClr>
            </a:outerShdw>
          </a:effec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6f0661d04_0_2235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56f0661d04_0_2235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56f0661d04_0_2235"/>
          <p:cNvSpPr/>
          <p:nvPr/>
        </p:nvSpPr>
        <p:spPr>
          <a:xfrm rot="10800000">
            <a:off x="-112168" y="5503267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endParaRPr/>
          </a:p>
        </p:txBody>
      </p:sp>
      <p:sp>
        <p:nvSpPr>
          <p:cNvPr id="197" name="Google Shape;197;g356f0661d04_0_2235"/>
          <p:cNvSpPr txBox="1"/>
          <p:nvPr>
            <p:ph idx="1" type="body"/>
          </p:nvPr>
        </p:nvSpPr>
        <p:spPr>
          <a:xfrm>
            <a:off x="855300" y="5816217"/>
            <a:ext cx="7433400" cy="3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198" name="Google Shape;198;g356f0661d04_0_2235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9" name="Google Shape;199;g356f0661d04_0_2235"/>
          <p:cNvGrpSpPr/>
          <p:nvPr/>
        </p:nvGrpSpPr>
        <p:grpSpPr>
          <a:xfrm>
            <a:off x="145809" y="5783935"/>
            <a:ext cx="232524" cy="437678"/>
            <a:chOff x="7938657" y="1397104"/>
            <a:chExt cx="323850" cy="457200"/>
          </a:xfrm>
        </p:grpSpPr>
        <p:sp>
          <p:nvSpPr>
            <p:cNvPr id="200" name="Google Shape;200;g356f0661d04_0_2235"/>
            <p:cNvSpPr/>
            <p:nvPr/>
          </p:nvSpPr>
          <p:spPr>
            <a:xfrm>
              <a:off x="8081532" y="1397104"/>
              <a:ext cx="57150" cy="57150"/>
            </a:xfrm>
            <a:custGeom>
              <a:rect b="b" l="l" r="r" t="t"/>
              <a:pathLst>
                <a:path extrusionOk="0" h="57150" w="57150">
                  <a:moveTo>
                    <a:pt x="57150" y="28575"/>
                  </a:moveTo>
                  <a:cubicBezTo>
                    <a:pt x="57150" y="12764"/>
                    <a:pt x="44387" y="0"/>
                    <a:pt x="28575" y="0"/>
                  </a:cubicBezTo>
                  <a:cubicBezTo>
                    <a:pt x="12764" y="0"/>
                    <a:pt x="0" y="12764"/>
                    <a:pt x="0" y="28575"/>
                  </a:cubicBezTo>
                  <a:lnTo>
                    <a:pt x="0" y="57150"/>
                  </a:lnTo>
                  <a:lnTo>
                    <a:pt x="57150" y="5715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56f0661d04_0_2235"/>
            <p:cNvSpPr/>
            <p:nvPr/>
          </p:nvSpPr>
          <p:spPr>
            <a:xfrm>
              <a:off x="7938657" y="1463779"/>
              <a:ext cx="323850" cy="390525"/>
            </a:xfrm>
            <a:custGeom>
              <a:rect b="b" l="l" r="r" t="t"/>
              <a:pathLst>
                <a:path extrusionOk="0" h="390525" w="323850">
                  <a:moveTo>
                    <a:pt x="142875" y="180975"/>
                  </a:moveTo>
                  <a:lnTo>
                    <a:pt x="200025" y="180975"/>
                  </a:lnTo>
                  <a:lnTo>
                    <a:pt x="200025" y="161925"/>
                  </a:lnTo>
                  <a:lnTo>
                    <a:pt x="247650" y="161925"/>
                  </a:lnTo>
                  <a:cubicBezTo>
                    <a:pt x="289655" y="161925"/>
                    <a:pt x="323850" y="127730"/>
                    <a:pt x="323850" y="85725"/>
                  </a:cubicBezTo>
                  <a:cubicBezTo>
                    <a:pt x="323850" y="43720"/>
                    <a:pt x="289655" y="9525"/>
                    <a:pt x="247650" y="9525"/>
                  </a:cubicBezTo>
                  <a:lnTo>
                    <a:pt x="110871" y="9525"/>
                  </a:lnTo>
                  <a:cubicBezTo>
                    <a:pt x="104108" y="3620"/>
                    <a:pt x="95345" y="0"/>
                    <a:pt x="85725" y="0"/>
                  </a:cubicBezTo>
                  <a:lnTo>
                    <a:pt x="38100" y="0"/>
                  </a:lnTo>
                  <a:cubicBezTo>
                    <a:pt x="27623" y="0"/>
                    <a:pt x="18098" y="4286"/>
                    <a:pt x="11144" y="11144"/>
                  </a:cubicBezTo>
                  <a:cubicBezTo>
                    <a:pt x="4286" y="18097"/>
                    <a:pt x="0" y="27622"/>
                    <a:pt x="0" y="38100"/>
                  </a:cubicBezTo>
                  <a:cubicBezTo>
                    <a:pt x="0" y="59150"/>
                    <a:pt x="17050" y="76200"/>
                    <a:pt x="38100" y="76200"/>
                  </a:cubicBezTo>
                  <a:lnTo>
                    <a:pt x="85725" y="76200"/>
                  </a:lnTo>
                  <a:cubicBezTo>
                    <a:pt x="95345" y="76200"/>
                    <a:pt x="104108" y="72581"/>
                    <a:pt x="110871" y="66675"/>
                  </a:cubicBezTo>
                  <a:lnTo>
                    <a:pt x="247650" y="66675"/>
                  </a:lnTo>
                  <a:cubicBezTo>
                    <a:pt x="258128" y="66675"/>
                    <a:pt x="266700" y="75248"/>
                    <a:pt x="266700" y="85725"/>
                  </a:cubicBezTo>
                  <a:cubicBezTo>
                    <a:pt x="266700" y="96203"/>
                    <a:pt x="258128" y="104775"/>
                    <a:pt x="247650" y="104775"/>
                  </a:cubicBezTo>
                  <a:lnTo>
                    <a:pt x="200025" y="104775"/>
                  </a:lnTo>
                  <a:lnTo>
                    <a:pt x="200025" y="85725"/>
                  </a:lnTo>
                  <a:lnTo>
                    <a:pt x="142875" y="85725"/>
                  </a:lnTo>
                  <a:lnTo>
                    <a:pt x="142875" y="104775"/>
                  </a:lnTo>
                  <a:lnTo>
                    <a:pt x="114300" y="104775"/>
                  </a:lnTo>
                  <a:cubicBezTo>
                    <a:pt x="72295" y="104775"/>
                    <a:pt x="38100" y="138970"/>
                    <a:pt x="38100" y="180975"/>
                  </a:cubicBezTo>
                  <a:cubicBezTo>
                    <a:pt x="38100" y="222980"/>
                    <a:pt x="72295" y="257175"/>
                    <a:pt x="114300" y="257175"/>
                  </a:cubicBezTo>
                  <a:lnTo>
                    <a:pt x="209550" y="257175"/>
                  </a:lnTo>
                  <a:cubicBezTo>
                    <a:pt x="220028" y="257175"/>
                    <a:pt x="228600" y="265748"/>
                    <a:pt x="228600" y="276225"/>
                  </a:cubicBezTo>
                  <a:cubicBezTo>
                    <a:pt x="228600" y="286703"/>
                    <a:pt x="220028" y="295275"/>
                    <a:pt x="209550" y="295275"/>
                  </a:cubicBezTo>
                  <a:lnTo>
                    <a:pt x="200025" y="295275"/>
                  </a:lnTo>
                  <a:lnTo>
                    <a:pt x="200025" y="276225"/>
                  </a:lnTo>
                  <a:lnTo>
                    <a:pt x="142875" y="276225"/>
                  </a:lnTo>
                  <a:lnTo>
                    <a:pt x="142875" y="295275"/>
                  </a:lnTo>
                  <a:lnTo>
                    <a:pt x="123825" y="295275"/>
                  </a:lnTo>
                  <a:cubicBezTo>
                    <a:pt x="108014" y="295275"/>
                    <a:pt x="95250" y="308039"/>
                    <a:pt x="95250" y="323850"/>
                  </a:cubicBezTo>
                  <a:cubicBezTo>
                    <a:pt x="95250" y="339662"/>
                    <a:pt x="108014" y="352425"/>
                    <a:pt x="123825" y="352425"/>
                  </a:cubicBezTo>
                  <a:lnTo>
                    <a:pt x="142875" y="352425"/>
                  </a:lnTo>
                  <a:lnTo>
                    <a:pt x="142875" y="361950"/>
                  </a:lnTo>
                  <a:cubicBezTo>
                    <a:pt x="142875" y="365284"/>
                    <a:pt x="143447" y="368522"/>
                    <a:pt x="144590" y="371475"/>
                  </a:cubicBezTo>
                  <a:cubicBezTo>
                    <a:pt x="145066" y="372904"/>
                    <a:pt x="145637" y="374237"/>
                    <a:pt x="146304" y="375475"/>
                  </a:cubicBezTo>
                  <a:cubicBezTo>
                    <a:pt x="146590" y="376142"/>
                    <a:pt x="146971" y="376809"/>
                    <a:pt x="147447" y="377381"/>
                  </a:cubicBezTo>
                  <a:cubicBezTo>
                    <a:pt x="147733" y="377857"/>
                    <a:pt x="148019" y="378333"/>
                    <a:pt x="148400" y="378809"/>
                  </a:cubicBezTo>
                  <a:cubicBezTo>
                    <a:pt x="151638" y="383286"/>
                    <a:pt x="156115" y="386715"/>
                    <a:pt x="161354" y="388620"/>
                  </a:cubicBezTo>
                  <a:cubicBezTo>
                    <a:pt x="161830" y="388906"/>
                    <a:pt x="162401" y="389096"/>
                    <a:pt x="162973" y="389192"/>
                  </a:cubicBezTo>
                  <a:cubicBezTo>
                    <a:pt x="163640" y="389477"/>
                    <a:pt x="164306" y="389668"/>
                    <a:pt x="164973" y="389763"/>
                  </a:cubicBezTo>
                  <a:cubicBezTo>
                    <a:pt x="165449" y="389954"/>
                    <a:pt x="166021" y="389954"/>
                    <a:pt x="166592" y="390049"/>
                  </a:cubicBezTo>
                  <a:cubicBezTo>
                    <a:pt x="168212" y="390430"/>
                    <a:pt x="169831" y="390525"/>
                    <a:pt x="171450" y="390525"/>
                  </a:cubicBezTo>
                  <a:cubicBezTo>
                    <a:pt x="173069" y="390525"/>
                    <a:pt x="174689" y="390430"/>
                    <a:pt x="176308" y="390049"/>
                  </a:cubicBezTo>
                  <a:cubicBezTo>
                    <a:pt x="176879" y="389954"/>
                    <a:pt x="177451" y="389954"/>
                    <a:pt x="177927" y="389763"/>
                  </a:cubicBezTo>
                  <a:cubicBezTo>
                    <a:pt x="184690" y="388239"/>
                    <a:pt x="190595" y="384239"/>
                    <a:pt x="194501" y="378809"/>
                  </a:cubicBezTo>
                  <a:cubicBezTo>
                    <a:pt x="194881" y="378333"/>
                    <a:pt x="195167" y="377857"/>
                    <a:pt x="195453" y="377381"/>
                  </a:cubicBezTo>
                  <a:cubicBezTo>
                    <a:pt x="195929" y="376809"/>
                    <a:pt x="196310" y="376142"/>
                    <a:pt x="196596" y="375475"/>
                  </a:cubicBezTo>
                  <a:cubicBezTo>
                    <a:pt x="197263" y="374237"/>
                    <a:pt x="197834" y="372904"/>
                    <a:pt x="198311" y="371475"/>
                  </a:cubicBezTo>
                  <a:cubicBezTo>
                    <a:pt x="199454" y="368522"/>
                    <a:pt x="200025" y="365284"/>
                    <a:pt x="200025" y="361950"/>
                  </a:cubicBezTo>
                  <a:lnTo>
                    <a:pt x="200025" y="352425"/>
                  </a:lnTo>
                  <a:lnTo>
                    <a:pt x="209550" y="352425"/>
                  </a:lnTo>
                  <a:cubicBezTo>
                    <a:pt x="251555" y="352425"/>
                    <a:pt x="285750" y="318230"/>
                    <a:pt x="285750" y="276225"/>
                  </a:cubicBezTo>
                  <a:cubicBezTo>
                    <a:pt x="285750" y="234220"/>
                    <a:pt x="251555" y="200025"/>
                    <a:pt x="209550" y="200025"/>
                  </a:cubicBezTo>
                  <a:lnTo>
                    <a:pt x="114300" y="200025"/>
                  </a:lnTo>
                  <a:cubicBezTo>
                    <a:pt x="103823" y="200025"/>
                    <a:pt x="95250" y="191453"/>
                    <a:pt x="95250" y="180975"/>
                  </a:cubicBezTo>
                  <a:cubicBezTo>
                    <a:pt x="95250" y="170498"/>
                    <a:pt x="103823" y="161925"/>
                    <a:pt x="114300" y="161925"/>
                  </a:cubicBezTo>
                  <a:lnTo>
                    <a:pt x="142875" y="161925"/>
                  </a:lnTo>
                  <a:lnTo>
                    <a:pt x="142875" y="180975"/>
                  </a:lnTo>
                  <a:close/>
                  <a:moveTo>
                    <a:pt x="38100" y="38100"/>
                  </a:moveTo>
                  <a:cubicBezTo>
                    <a:pt x="32861" y="38100"/>
                    <a:pt x="28575" y="33814"/>
                    <a:pt x="28575" y="28575"/>
                  </a:cubicBezTo>
                  <a:cubicBezTo>
                    <a:pt x="28575" y="23336"/>
                    <a:pt x="32861" y="19050"/>
                    <a:pt x="38100" y="19050"/>
                  </a:cubicBezTo>
                  <a:cubicBezTo>
                    <a:pt x="43339" y="19050"/>
                    <a:pt x="47625" y="23336"/>
                    <a:pt x="47625" y="28575"/>
                  </a:cubicBezTo>
                  <a:cubicBezTo>
                    <a:pt x="47625" y="33814"/>
                    <a:pt x="43339" y="38100"/>
                    <a:pt x="38100" y="381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6f0661d04_0_2244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56f0661d04_0_2244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56f0661d04_0_2244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_1">
    <p:bg>
      <p:bgPr>
        <a:solidFill>
          <a:schemeClr val="accen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6f0661d04_0_2248"/>
          <p:cNvSpPr/>
          <p:nvPr/>
        </p:nvSpPr>
        <p:spPr>
          <a:xfrm>
            <a:off x="5901817" y="989733"/>
            <a:ext cx="3809100" cy="5078700"/>
          </a:xfrm>
          <a:prstGeom prst="chord">
            <a:avLst>
              <a:gd fmla="val 2700000" name="adj1"/>
              <a:gd fmla="val 18900274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56f0661d04_0_2248"/>
          <p:cNvSpPr/>
          <p:nvPr/>
        </p:nvSpPr>
        <p:spPr>
          <a:xfrm>
            <a:off x="7664350" y="408500"/>
            <a:ext cx="1737000" cy="23160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00E1FF">
              <a:alpha val="223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56f0661d04_0_2248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BLANK_1_1">
    <p:bg>
      <p:bgPr>
        <a:solidFill>
          <a:schemeClr val="accen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g356f0661d04_0_2252"/>
          <p:cNvGrpSpPr/>
          <p:nvPr/>
        </p:nvGrpSpPr>
        <p:grpSpPr>
          <a:xfrm>
            <a:off x="-7278" y="-116"/>
            <a:ext cx="9154509" cy="6862952"/>
            <a:chOff x="2415126" y="2459954"/>
            <a:chExt cx="3373193" cy="1897678"/>
          </a:xfrm>
        </p:grpSpPr>
        <p:sp>
          <p:nvSpPr>
            <p:cNvPr id="212" name="Google Shape;212;g356f0661d04_0_2252"/>
            <p:cNvSpPr/>
            <p:nvPr/>
          </p:nvSpPr>
          <p:spPr>
            <a:xfrm>
              <a:off x="2415126" y="2459954"/>
              <a:ext cx="1233400" cy="1897678"/>
            </a:xfrm>
            <a:custGeom>
              <a:rect b="b" l="l" r="r" t="t"/>
              <a:pathLst>
                <a:path extrusionOk="0" h="1897678" w="1233400">
                  <a:moveTo>
                    <a:pt x="636027" y="948839"/>
                  </a:moveTo>
                  <a:cubicBezTo>
                    <a:pt x="636027" y="530634"/>
                    <a:pt x="880128" y="169454"/>
                    <a:pt x="1233609" y="0"/>
                  </a:cubicBezTo>
                  <a:lnTo>
                    <a:pt x="0" y="0"/>
                  </a:lnTo>
                  <a:lnTo>
                    <a:pt x="0" y="1897679"/>
                  </a:lnTo>
                  <a:lnTo>
                    <a:pt x="1233609" y="1897679"/>
                  </a:lnTo>
                  <a:cubicBezTo>
                    <a:pt x="880128" y="1728225"/>
                    <a:pt x="636027" y="1367045"/>
                    <a:pt x="636027" y="948839"/>
                  </a:cubicBezTo>
                  <a:close/>
                </a:path>
              </a:pathLst>
            </a:custGeom>
            <a:solidFill>
              <a:srgbClr val="FFFFFF">
                <a:alpha val="687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g356f0661d04_0_2252"/>
            <p:cNvSpPr/>
            <p:nvPr/>
          </p:nvSpPr>
          <p:spPr>
            <a:xfrm>
              <a:off x="4556676" y="2459954"/>
              <a:ext cx="1231643" cy="1897678"/>
            </a:xfrm>
            <a:custGeom>
              <a:rect b="b" l="l" r="r" t="t"/>
              <a:pathLst>
                <a:path extrusionOk="0" h="1897678" w="1231643">
                  <a:moveTo>
                    <a:pt x="0" y="0"/>
                  </a:moveTo>
                  <a:cubicBezTo>
                    <a:pt x="353481" y="169454"/>
                    <a:pt x="597582" y="530634"/>
                    <a:pt x="597582" y="948839"/>
                  </a:cubicBezTo>
                  <a:cubicBezTo>
                    <a:pt x="597582" y="1367045"/>
                    <a:pt x="353481" y="1728225"/>
                    <a:pt x="0" y="1897679"/>
                  </a:cubicBezTo>
                  <a:lnTo>
                    <a:pt x="1231852" y="1897679"/>
                  </a:lnTo>
                  <a:lnTo>
                    <a:pt x="1231852" y="0"/>
                  </a:lnTo>
                  <a:close/>
                </a:path>
              </a:pathLst>
            </a:custGeom>
            <a:solidFill>
              <a:srgbClr val="FFFFFF">
                <a:alpha val="687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356f0661d04_0_2252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6f0661d04_1_0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b="0" i="0" sz="3200" u="none" cap="none" strike="noStrike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9pPr>
          </a:lstStyle>
          <a:p/>
        </p:txBody>
      </p:sp>
      <p:sp>
        <p:nvSpPr>
          <p:cNvPr id="11" name="Google Shape;11;g356f0661d04_1_0"/>
          <p:cNvSpPr txBox="1"/>
          <p:nvPr>
            <p:ph idx="1" type="body"/>
          </p:nvPr>
        </p:nvSpPr>
        <p:spPr>
          <a:xfrm>
            <a:off x="855300" y="1805264"/>
            <a:ext cx="4844100" cy="4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ews Cycle"/>
              <a:buChar char="•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ews Cycle"/>
              <a:buChar char="•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ews Cycle"/>
              <a:buChar char="•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ews Cycle"/>
              <a:buChar char="•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-3810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○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-3810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■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-3810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●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-3810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○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-3810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■"/>
              <a:defRPr b="0" i="0" sz="24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/>
        </p:txBody>
      </p:sp>
      <p:sp>
        <p:nvSpPr>
          <p:cNvPr id="12" name="Google Shape;12;g356f0661d04_1_0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6f0661d04_0_2156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bin Condensed SemiBold"/>
              <a:buNone/>
              <a:defRPr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defRPr>
            </a:lvl9pPr>
          </a:lstStyle>
          <a:p/>
        </p:txBody>
      </p:sp>
      <p:sp>
        <p:nvSpPr>
          <p:cNvPr id="114" name="Google Shape;114;g356f0661d04_0_2156"/>
          <p:cNvSpPr txBox="1"/>
          <p:nvPr>
            <p:ph idx="1" type="body"/>
          </p:nvPr>
        </p:nvSpPr>
        <p:spPr>
          <a:xfrm>
            <a:off x="855300" y="1805263"/>
            <a:ext cx="4844100" cy="4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ews Cycle"/>
              <a:buChar char="•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indent="-3810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ews Cycle"/>
              <a:buChar char="•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indent="-3810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ews Cycle"/>
              <a:buChar char="•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indent="-3810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ews Cycle"/>
              <a:buChar char="•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indent="-3810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○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indent="-3810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■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indent="-3810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●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indent="-3810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○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indent="-3810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 Cycle"/>
              <a:buChar char="■"/>
              <a:defRPr sz="24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/>
        </p:txBody>
      </p:sp>
      <p:sp>
        <p:nvSpPr>
          <p:cNvPr id="115" name="Google Shape;115;g356f0661d04_0_2156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uAyTJno37mvNQzgwG4XDkh2LMDyMrUqH/view" TargetMode="External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rSmK6NySAtf7mLopMBNKsE30aJPThVX-/view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hyperlink" Target="http://drive.google.com/file/d/1y-IndFfkXRzyugb4n6RtZZsu8RPeOOCx/view" TargetMode="External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DhuuSOVSwxKtJ84TCHCLz0rGpUMG9aiM/view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fCi3dZeIQf_xWiK2IgOsMHSws8zdgVyx/view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9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hyperlink" Target="http://drive.google.com/file/d/1bn-19CWZzQ7PuBXSGYX4T5XH4ndyNAhJ/view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hyperlink" Target="http://drive.google.com/file/d/189hZdZHYGSNJBkLSD4VCVUE3Lt7WYL0m/view" TargetMode="External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nVaImTlouTW6fhGRbKYsqKj7p_BQaveR/view" TargetMode="External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iIKIzbznU-_ymycBlTI2HMK-ansgf00I/view" TargetMode="External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hyperlink" Target="http://drive.google.com/file/d/1trwVvvMIvw4ZQIButLxYCgSSJhyMIJ0A/view" TargetMode="External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hyperlink" Target="http://drive.google.com/file/d/1lTSITdE8ZCZxRWY37RVcQvzheXeTVx6k/view" TargetMode="External"/><Relationship Id="rId6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hyperlink" Target="http://drive.google.com/file/d/1O_SxWaoSFzs_A9iPLtMQrSR6P7VZ9fIU/view" TargetMode="External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hyperlink" Target="http://drive.google.com/file/d/140joTIKDt66N2wnGtPBSnaVkfBOHUpRN/view" TargetMode="External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oCYSvOxSHEPsbvFsh1Ip3OoblO-HXqOM/view" TargetMode="External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dicting Hospital Bed Utilization Using Social Determinants of Health. A county level analysis using data from 2020.  Presented by Team IOTA. May 2025.&#10;Click the audio icon to hear the presentation." id="219" name="Google Shape;219;g356f0661d04_0_556"/>
          <p:cNvSpPr txBox="1"/>
          <p:nvPr>
            <p:ph type="ctrTitle"/>
          </p:nvPr>
        </p:nvSpPr>
        <p:spPr>
          <a:xfrm>
            <a:off x="224450" y="163925"/>
            <a:ext cx="8103000" cy="206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4000"/>
              <a:t>Predicting Hospital Bed Utilization Using Social Determinants of Health</a:t>
            </a:r>
            <a:endParaRPr sz="4000"/>
          </a:p>
        </p:txBody>
      </p:sp>
      <p:sp>
        <p:nvSpPr>
          <p:cNvPr descr="A county level analysis using data from 2020.  Presented by Team IOTA. May 2025." id="220" name="Google Shape;220;g356f0661d04_0_556"/>
          <p:cNvSpPr txBox="1"/>
          <p:nvPr/>
        </p:nvSpPr>
        <p:spPr>
          <a:xfrm>
            <a:off x="319400" y="3622351"/>
            <a:ext cx="65310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County-Level Analysis (2020)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IOTA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 2025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356f0661d04_0_556" title="Welcoming Page_Slide1_40seconds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4125" y="319600"/>
            <a:ext cx="886968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56f0661d04_0_55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ble of Contents. Background, methods, findings, conclusions." id="227" name="Google Shape;227;g356f0661d04_0_432"/>
          <p:cNvSpPr/>
          <p:nvPr/>
        </p:nvSpPr>
        <p:spPr>
          <a:xfrm>
            <a:off x="954975" y="-149750"/>
            <a:ext cx="7657200" cy="7167300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ews Cycle"/>
              <a:ea typeface="News Cycle"/>
              <a:cs typeface="News Cycle"/>
              <a:sym typeface="News Cycle"/>
            </a:endParaRPr>
          </a:p>
        </p:txBody>
      </p:sp>
      <p:grpSp>
        <p:nvGrpSpPr>
          <p:cNvPr id="228" name="Google Shape;228;g356f0661d04_0_432"/>
          <p:cNvGrpSpPr/>
          <p:nvPr/>
        </p:nvGrpSpPr>
        <p:grpSpPr>
          <a:xfrm>
            <a:off x="2280543" y="1384521"/>
            <a:ext cx="4582928" cy="4088972"/>
            <a:chOff x="5926265" y="4424051"/>
            <a:chExt cx="720246" cy="720181"/>
          </a:xfrm>
        </p:grpSpPr>
        <p:sp>
          <p:nvSpPr>
            <p:cNvPr id="229" name="Google Shape;229;g356f0661d04_0_432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rgbClr val="00A4CA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44E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C444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56f0661d04_0_432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rgbClr val="5963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44E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C444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56f0661d04_0_432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rgbClr val="8792D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44E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C444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g356f0661d04_0_432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rgbClr val="0082A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44E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C444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g356f0661d04_0_432"/>
          <p:cNvSpPr txBox="1"/>
          <p:nvPr/>
        </p:nvSpPr>
        <p:spPr>
          <a:xfrm>
            <a:off x="2939425" y="2137550"/>
            <a:ext cx="17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rPr>
              <a:t>Background</a:t>
            </a:r>
            <a:endParaRPr sz="2400">
              <a:solidFill>
                <a:schemeClr val="lt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234" name="Google Shape;234;g356f0661d04_0_432"/>
          <p:cNvSpPr txBox="1"/>
          <p:nvPr/>
        </p:nvSpPr>
        <p:spPr>
          <a:xfrm>
            <a:off x="4651525" y="2137550"/>
            <a:ext cx="17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rPr>
              <a:t>Methods</a:t>
            </a:r>
            <a:endParaRPr sz="2400">
              <a:solidFill>
                <a:schemeClr val="lt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235" name="Google Shape;235;g356f0661d04_0_432"/>
          <p:cNvSpPr txBox="1"/>
          <p:nvPr/>
        </p:nvSpPr>
        <p:spPr>
          <a:xfrm>
            <a:off x="3390825" y="3914400"/>
            <a:ext cx="17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rPr>
              <a:t>Findings</a:t>
            </a:r>
            <a:endParaRPr sz="2400">
              <a:solidFill>
                <a:schemeClr val="lt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236" name="Google Shape;236;g356f0661d04_0_432"/>
          <p:cNvSpPr txBox="1"/>
          <p:nvPr/>
        </p:nvSpPr>
        <p:spPr>
          <a:xfrm>
            <a:off x="4572075" y="3914400"/>
            <a:ext cx="1712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rPr>
              <a:t>Conclusions</a:t>
            </a:r>
            <a:endParaRPr sz="2400">
              <a:solidFill>
                <a:schemeClr val="lt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237" name="Google Shape;237;g356f0661d04_0_432"/>
          <p:cNvSpPr txBox="1"/>
          <p:nvPr/>
        </p:nvSpPr>
        <p:spPr>
          <a:xfrm>
            <a:off x="3020825" y="244950"/>
            <a:ext cx="7657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abin Condensed SemiBold"/>
                <a:ea typeface="Cabin Condensed SemiBold"/>
                <a:cs typeface="Cabin Condensed SemiBold"/>
                <a:sym typeface="Cabin Condensed SemiBold"/>
              </a:rPr>
              <a:t>Table of Contents</a:t>
            </a:r>
            <a:endParaRPr sz="24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238" name="Google Shape;238;g356f0661d04_0_432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. Understanding the what and the why." id="243" name="Google Shape;243;g356f0661d04_0_1301"/>
          <p:cNvSpPr txBox="1"/>
          <p:nvPr>
            <p:ph type="ctrTitle"/>
          </p:nvPr>
        </p:nvSpPr>
        <p:spPr>
          <a:xfrm>
            <a:off x="939450" y="3786489"/>
            <a:ext cx="4775400" cy="91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244" name="Google Shape;244;g356f0661d04_0_1301"/>
          <p:cNvSpPr txBox="1"/>
          <p:nvPr>
            <p:ph idx="1" type="subTitle"/>
          </p:nvPr>
        </p:nvSpPr>
        <p:spPr>
          <a:xfrm>
            <a:off x="939450" y="4734625"/>
            <a:ext cx="5396400" cy="6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Understanding the what and the why</a:t>
            </a:r>
            <a:endParaRPr/>
          </a:p>
        </p:txBody>
      </p:sp>
      <p:sp>
        <p:nvSpPr>
          <p:cNvPr id="245" name="Google Shape;245;g356f0661d04_0_1301"/>
          <p:cNvSpPr txBox="1"/>
          <p:nvPr/>
        </p:nvSpPr>
        <p:spPr>
          <a:xfrm>
            <a:off x="7525" y="2781367"/>
            <a:ext cx="6627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1</a:t>
            </a:r>
            <a:endParaRPr b="1" sz="4800">
              <a:solidFill>
                <a:schemeClr val="lt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246" name="Google Shape;246;g356f0661d04_0_130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and motivation. Click the audio icon to hear the presentation." id="251" name="Google Shape;251;p3"/>
          <p:cNvSpPr txBox="1"/>
          <p:nvPr>
            <p:ph type="title"/>
          </p:nvPr>
        </p:nvSpPr>
        <p:spPr>
          <a:xfrm>
            <a:off x="628650" y="365126"/>
            <a:ext cx="4946419" cy="1059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Background &amp; Motivation</a:t>
            </a:r>
            <a:endParaRPr/>
          </a:p>
        </p:txBody>
      </p:sp>
      <p:sp>
        <p:nvSpPr>
          <p:cNvPr id="252" name="Google Shape;252;p3"/>
          <p:cNvSpPr txBox="1"/>
          <p:nvPr/>
        </p:nvSpPr>
        <p:spPr>
          <a:xfrm>
            <a:off x="-178300" y="2015100"/>
            <a:ext cx="60642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       </a:t>
            </a: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Why Does This Matter to Public Health Agencies?(References 1 &amp; 3)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73050" lvl="1" marL="628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Hospital bed capacity is a key health system indicator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73050" lvl="1" marL="6286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Traditional forecasting overlooks social drivers of demand</a:t>
            </a:r>
            <a:endParaRPr i="0" sz="1600" u="none" cap="none" strike="noStrike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73050" lvl="1" marL="6286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Proactive identification of vulnerable communities enables targeted intervention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73050" lvl="1" marL="6286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Shifting from reactive </a:t>
            </a:r>
            <a:r>
              <a:rPr i="0" lang="en-US" sz="12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➔</a:t>
            </a: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 anticipatory planning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253" name="Google Shape;253;p3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4" name="Google Shape;254;p3" title="Slide 4b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369" y="43748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search Question. Click the audio icon to hear the presentation." id="259" name="Google Shape;259;g356f0661d04_0_911"/>
          <p:cNvSpPr txBox="1"/>
          <p:nvPr>
            <p:ph idx="4294967295" type="title"/>
          </p:nvPr>
        </p:nvSpPr>
        <p:spPr>
          <a:xfrm>
            <a:off x="793450" y="285492"/>
            <a:ext cx="66021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Research Question</a:t>
            </a:r>
            <a:endParaRPr/>
          </a:p>
        </p:txBody>
      </p:sp>
      <p:sp>
        <p:nvSpPr>
          <p:cNvPr id="260" name="Google Shape;260;g356f0661d04_0_911"/>
          <p:cNvSpPr txBox="1"/>
          <p:nvPr/>
        </p:nvSpPr>
        <p:spPr>
          <a:xfrm>
            <a:off x="244525" y="1284800"/>
            <a:ext cx="55017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Question</a:t>
            </a: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: 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Can social and geographic determinants of health (e.g., disability, poverty, healthcare access, advanced age, and transportation access) predict non-COVID hospital bed utilization at the county level in 2020?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Hypothesis &amp; Prediction</a:t>
            </a: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: 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Counties with higher socioeconomic vulnerability will show higher utilization rates, independent of COVID factors</a:t>
            </a: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 (References 2 &amp; 4)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184150" lvl="0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descr="Image of orange stickman looking through a magnifying glass" id="261" name="Google Shape;261;g356f0661d04_0_9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4600" y="2128829"/>
            <a:ext cx="2638425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56f0661d04_0_911"/>
          <p:cNvSpPr txBox="1"/>
          <p:nvPr/>
        </p:nvSpPr>
        <p:spPr>
          <a:xfrm>
            <a:off x="3648625" y="6307325"/>
            <a:ext cx="5017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image: https://www.freeimages.com/clipart/stickman-looking-through-magnifying-glass-1934931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63" name="Google Shape;263;g356f0661d04_0_911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4" name="Google Shape;264;g356f0661d04_0_911" title="Slide 5b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3850" y="370404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ethods. Our data, preparation and modeling approach." id="269" name="Google Shape;269;g356f0661d04_0_667"/>
          <p:cNvSpPr txBox="1"/>
          <p:nvPr>
            <p:ph type="ctrTitle"/>
          </p:nvPr>
        </p:nvSpPr>
        <p:spPr>
          <a:xfrm>
            <a:off x="939450" y="3786489"/>
            <a:ext cx="4775400" cy="91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Methods</a:t>
            </a:r>
            <a:endParaRPr/>
          </a:p>
        </p:txBody>
      </p:sp>
      <p:sp>
        <p:nvSpPr>
          <p:cNvPr id="270" name="Google Shape;270;g356f0661d04_0_667"/>
          <p:cNvSpPr txBox="1"/>
          <p:nvPr>
            <p:ph idx="1" type="subTitle"/>
          </p:nvPr>
        </p:nvSpPr>
        <p:spPr>
          <a:xfrm>
            <a:off x="939450" y="4734625"/>
            <a:ext cx="5396400" cy="6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data, </a:t>
            </a:r>
            <a:r>
              <a:rPr lang="en-US"/>
              <a:t>preparation</a:t>
            </a:r>
            <a:r>
              <a:rPr lang="en-US"/>
              <a:t>, and modeling approach</a:t>
            </a:r>
            <a:endParaRPr/>
          </a:p>
        </p:txBody>
      </p:sp>
      <p:sp>
        <p:nvSpPr>
          <p:cNvPr id="271" name="Google Shape;271;g356f0661d04_0_667"/>
          <p:cNvSpPr txBox="1"/>
          <p:nvPr/>
        </p:nvSpPr>
        <p:spPr>
          <a:xfrm>
            <a:off x="7525" y="2781367"/>
            <a:ext cx="6627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2</a:t>
            </a:r>
            <a:endParaRPr b="1" sz="4800">
              <a:solidFill>
                <a:schemeClr val="lt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272" name="Google Shape;272;g356f0661d04_0_66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 Sources. Click the audio icon to hear the presentation." id="277" name="Google Shape;277;g356f0661d04_0_1189"/>
          <p:cNvSpPr txBox="1"/>
          <p:nvPr>
            <p:ph type="title"/>
          </p:nvPr>
        </p:nvSpPr>
        <p:spPr>
          <a:xfrm>
            <a:off x="855300" y="294081"/>
            <a:ext cx="6602100" cy="133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Sources</a:t>
            </a:r>
            <a:endParaRPr/>
          </a:p>
        </p:txBody>
      </p:sp>
      <p:sp>
        <p:nvSpPr>
          <p:cNvPr id="278" name="Google Shape;278;g356f0661d04_0_1189"/>
          <p:cNvSpPr txBox="1"/>
          <p:nvPr>
            <p:ph idx="1" type="body"/>
          </p:nvPr>
        </p:nvSpPr>
        <p:spPr>
          <a:xfrm>
            <a:off x="855275" y="1392673"/>
            <a:ext cx="1606500" cy="16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Source 1</a:t>
            </a:r>
            <a:endParaRPr b="1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/>
              <a:t>AHRQ Social Determinants of Health Database (2020)</a:t>
            </a:r>
            <a:endParaRPr/>
          </a:p>
        </p:txBody>
      </p:sp>
      <p:sp>
        <p:nvSpPr>
          <p:cNvPr id="279" name="Google Shape;279;g356f0661d04_0_1189"/>
          <p:cNvSpPr txBox="1"/>
          <p:nvPr>
            <p:ph idx="2" type="body"/>
          </p:nvPr>
        </p:nvSpPr>
        <p:spPr>
          <a:xfrm>
            <a:off x="2544000" y="1392673"/>
            <a:ext cx="1606500" cy="16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Source 2</a:t>
            </a:r>
            <a:endParaRPr b="1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/>
              <a:t>HHS COVID-19 Hospitalization Dataset (2020)</a:t>
            </a:r>
            <a:endParaRPr/>
          </a:p>
        </p:txBody>
      </p:sp>
      <p:sp>
        <p:nvSpPr>
          <p:cNvPr id="280" name="Google Shape;280;g356f0661d04_0_1189"/>
          <p:cNvSpPr txBox="1"/>
          <p:nvPr>
            <p:ph idx="3" type="body"/>
          </p:nvPr>
        </p:nvSpPr>
        <p:spPr>
          <a:xfrm>
            <a:off x="4381200" y="1392675"/>
            <a:ext cx="1606500" cy="16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Response Variable</a:t>
            </a:r>
            <a:endParaRPr b="1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/>
              <a:t>Non-COVID Bed Utilization Ratio 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56f0661d04_0_1189"/>
          <p:cNvSpPr txBox="1"/>
          <p:nvPr/>
        </p:nvSpPr>
        <p:spPr>
          <a:xfrm>
            <a:off x="833275" y="4231250"/>
            <a:ext cx="47007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Final Dataset</a:t>
            </a:r>
            <a:r>
              <a:rPr lang="en-US" sz="1600">
                <a:latin typeface="News Cycle"/>
                <a:ea typeface="News Cycle"/>
                <a:cs typeface="News Cycle"/>
                <a:sym typeface="News Cycle"/>
              </a:rPr>
              <a:t>:</a:t>
            </a:r>
            <a:r>
              <a:rPr lang="en-US" sz="16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rPr>
              <a:t> </a:t>
            </a: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2,391 counties with 20 features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Caveats:</a:t>
            </a:r>
            <a:r>
              <a:rPr lang="en-US" sz="1600">
                <a:solidFill>
                  <a:schemeClr val="dk2"/>
                </a:solidFill>
                <a:latin typeface="News Cycle"/>
                <a:ea typeface="News Cycle"/>
                <a:cs typeface="News Cycle"/>
                <a:sym typeface="News Cycle"/>
              </a:rPr>
              <a:t> </a:t>
            </a: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County-level aggregation may mask neighborhood disparities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282" name="Google Shape;282;g356f0661d04_0_1189"/>
          <p:cNvSpPr txBox="1"/>
          <p:nvPr/>
        </p:nvSpPr>
        <p:spPr>
          <a:xfrm>
            <a:off x="259825" y="3033450"/>
            <a:ext cx="58476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Response Variable </a:t>
            </a:r>
            <a:r>
              <a:rPr b="1"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Formula</a:t>
            </a:r>
            <a:r>
              <a:rPr b="1"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: </a:t>
            </a:r>
            <a:endParaRPr b="1"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(Inpatient Beds Used – COVID Beds Used) / Total Inpatient Beds </a:t>
            </a:r>
            <a:endParaRPr sz="24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283" name="Google Shape;283;g356f0661d04_0_1189" title="DatasetExplanation_Slide40sec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775" y="345844"/>
            <a:ext cx="954850" cy="95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56f0661d04_0_1189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 Preparation. Click the audio icon to hear the presentation." id="289" name="Google Shape;289;g356f0661d04_0_1049"/>
          <p:cNvSpPr txBox="1"/>
          <p:nvPr>
            <p:ph idx="4294967295" type="title"/>
          </p:nvPr>
        </p:nvSpPr>
        <p:spPr>
          <a:xfrm>
            <a:off x="399025" y="626150"/>
            <a:ext cx="65694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</a:t>
            </a:r>
            <a:r>
              <a:rPr lang="en-US"/>
              <a:t>Preparation</a:t>
            </a:r>
            <a:endParaRPr/>
          </a:p>
        </p:txBody>
      </p:sp>
      <p:sp>
        <p:nvSpPr>
          <p:cNvPr id="290" name="Google Shape;290;g356f0661d04_0_1049"/>
          <p:cNvSpPr/>
          <p:nvPr/>
        </p:nvSpPr>
        <p:spPr>
          <a:xfrm>
            <a:off x="0" y="3161371"/>
            <a:ext cx="9144000" cy="1348058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2286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56f0661d04_0_1049"/>
          <p:cNvSpPr/>
          <p:nvPr/>
        </p:nvSpPr>
        <p:spPr>
          <a:xfrm>
            <a:off x="0" y="3161371"/>
            <a:ext cx="9144000" cy="1348058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19050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g356f0661d04_0_1049"/>
          <p:cNvGrpSpPr/>
          <p:nvPr/>
        </p:nvGrpSpPr>
        <p:grpSpPr>
          <a:xfrm>
            <a:off x="1710072" y="2194905"/>
            <a:ext cx="588152" cy="784187"/>
            <a:chOff x="1786339" y="1703401"/>
            <a:chExt cx="473400" cy="473400"/>
          </a:xfrm>
        </p:grpSpPr>
        <p:sp>
          <p:nvSpPr>
            <p:cNvPr id="293" name="Google Shape;293;g356f0661d04_0_1049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294" name="Google Shape;294;g356f0661d04_0_1049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1</a:t>
              </a:r>
              <a:endParaRPr b="1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grpSp>
        <p:nvGrpSpPr>
          <p:cNvPr id="295" name="Google Shape;295;g356f0661d04_0_1049"/>
          <p:cNvGrpSpPr/>
          <p:nvPr/>
        </p:nvGrpSpPr>
        <p:grpSpPr>
          <a:xfrm>
            <a:off x="3738244" y="2194904"/>
            <a:ext cx="588152" cy="784187"/>
            <a:chOff x="3814414" y="1703401"/>
            <a:chExt cx="473400" cy="473400"/>
          </a:xfrm>
        </p:grpSpPr>
        <p:sp>
          <p:nvSpPr>
            <p:cNvPr id="296" name="Google Shape;296;g356f0661d04_0_1049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297" name="Google Shape;297;g356f0661d04_0_1049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3</a:t>
              </a:r>
              <a:endParaRPr b="1" sz="13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grpSp>
        <p:nvGrpSpPr>
          <p:cNvPr id="298" name="Google Shape;298;g356f0661d04_0_1049"/>
          <p:cNvGrpSpPr/>
          <p:nvPr/>
        </p:nvGrpSpPr>
        <p:grpSpPr>
          <a:xfrm>
            <a:off x="5804027" y="2194906"/>
            <a:ext cx="588152" cy="784187"/>
            <a:chOff x="5842489" y="1703401"/>
            <a:chExt cx="473400" cy="473400"/>
          </a:xfrm>
        </p:grpSpPr>
        <p:sp>
          <p:nvSpPr>
            <p:cNvPr id="299" name="Google Shape;299;g356f0661d04_0_1049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00" name="Google Shape;300;g356f0661d04_0_1049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dk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5</a:t>
              </a:r>
              <a:endParaRPr b="1" sz="11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grpSp>
        <p:nvGrpSpPr>
          <p:cNvPr id="301" name="Google Shape;301;g356f0661d04_0_1049"/>
          <p:cNvGrpSpPr/>
          <p:nvPr/>
        </p:nvGrpSpPr>
        <p:grpSpPr>
          <a:xfrm>
            <a:off x="6823459" y="4768276"/>
            <a:ext cx="588152" cy="784187"/>
            <a:chOff x="6880814" y="3576300"/>
            <a:chExt cx="473400" cy="473400"/>
          </a:xfrm>
        </p:grpSpPr>
        <p:sp>
          <p:nvSpPr>
            <p:cNvPr id="302" name="Google Shape;302;g356f0661d04_0_1049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03" name="Google Shape;303;g356f0661d04_0_1049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6</a:t>
              </a:r>
              <a:endParaRPr b="1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grpSp>
        <p:nvGrpSpPr>
          <p:cNvPr id="304" name="Google Shape;304;g356f0661d04_0_1049"/>
          <p:cNvGrpSpPr/>
          <p:nvPr/>
        </p:nvGrpSpPr>
        <p:grpSpPr>
          <a:xfrm>
            <a:off x="4795374" y="4768276"/>
            <a:ext cx="588152" cy="784187"/>
            <a:chOff x="4852739" y="3576300"/>
            <a:chExt cx="473400" cy="473400"/>
          </a:xfrm>
        </p:grpSpPr>
        <p:sp>
          <p:nvSpPr>
            <p:cNvPr id="305" name="Google Shape;305;g356f0661d04_0_1049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06" name="Google Shape;306;g356f0661d04_0_1049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4</a:t>
              </a:r>
              <a:endParaRPr b="1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grpSp>
        <p:nvGrpSpPr>
          <p:cNvPr id="307" name="Google Shape;307;g356f0661d04_0_1049"/>
          <p:cNvGrpSpPr/>
          <p:nvPr/>
        </p:nvGrpSpPr>
        <p:grpSpPr>
          <a:xfrm>
            <a:off x="2767290" y="4768276"/>
            <a:ext cx="588152" cy="784187"/>
            <a:chOff x="2824664" y="3576300"/>
            <a:chExt cx="473400" cy="473400"/>
          </a:xfrm>
        </p:grpSpPr>
        <p:sp>
          <p:nvSpPr>
            <p:cNvPr id="308" name="Google Shape;308;g356f0661d04_0_1049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09" name="Google Shape;309;g356f0661d04_0_1049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2</a:t>
              </a:r>
              <a:endParaRPr b="1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sp>
        <p:nvSpPr>
          <p:cNvPr id="310" name="Google Shape;310;g356f0661d04_0_1049"/>
          <p:cNvSpPr txBox="1"/>
          <p:nvPr/>
        </p:nvSpPr>
        <p:spPr>
          <a:xfrm>
            <a:off x="1001100" y="1397375"/>
            <a:ext cx="20061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Removed redundant variables &amp; addressed collinearity</a:t>
            </a:r>
            <a:endParaRPr sz="1600">
              <a:solidFill>
                <a:schemeClr val="dk2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11" name="Google Shape;311;g356f0661d04_0_1049"/>
          <p:cNvSpPr txBox="1"/>
          <p:nvPr/>
        </p:nvSpPr>
        <p:spPr>
          <a:xfrm>
            <a:off x="3150010" y="1397375"/>
            <a:ext cx="18696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Standardized features for model stability</a:t>
            </a:r>
            <a:endParaRPr sz="1600">
              <a:solidFill>
                <a:schemeClr val="dk2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12" name="Google Shape;312;g356f0661d04_0_1049"/>
          <p:cNvSpPr txBox="1"/>
          <p:nvPr/>
        </p:nvSpPr>
        <p:spPr>
          <a:xfrm>
            <a:off x="5162400" y="1195600"/>
            <a:ext cx="21918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Selected variables: economic status, housing burden, healthcare access</a:t>
            </a:r>
            <a:endParaRPr sz="1600">
              <a:solidFill>
                <a:schemeClr val="dk2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13" name="Google Shape;313;g356f0661d04_0_1049"/>
          <p:cNvSpPr txBox="1"/>
          <p:nvPr/>
        </p:nvSpPr>
        <p:spPr>
          <a:xfrm>
            <a:off x="2223925" y="5525675"/>
            <a:ext cx="16749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Encoded region &amp; urban/rural variables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14" name="Google Shape;314;g356f0661d04_0_1049"/>
          <p:cNvSpPr txBox="1"/>
          <p:nvPr/>
        </p:nvSpPr>
        <p:spPr>
          <a:xfrm>
            <a:off x="4219150" y="5418125"/>
            <a:ext cx="17406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Preserved county coverage while ensuring data quality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15" name="Google Shape;315;g356f0661d04_0_1049"/>
          <p:cNvSpPr txBox="1"/>
          <p:nvPr/>
        </p:nvSpPr>
        <p:spPr>
          <a:xfrm>
            <a:off x="6332273" y="5562125"/>
            <a:ext cx="15705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Final Dataset is ready to be used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316" name="Google Shape;316;g356f0661d04_0_1049" title="DataPrep_Slide30sec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0375" y="312750"/>
            <a:ext cx="942700" cy="9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56f0661d04_0_1049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Findings. Key results and insights from the analysis." id="322" name="Google Shape;322;g356f0661d04_0_1183"/>
          <p:cNvSpPr txBox="1"/>
          <p:nvPr>
            <p:ph type="ctrTitle"/>
          </p:nvPr>
        </p:nvSpPr>
        <p:spPr>
          <a:xfrm>
            <a:off x="939450" y="3786489"/>
            <a:ext cx="4775400" cy="91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</a:t>
            </a:r>
            <a:endParaRPr/>
          </a:p>
        </p:txBody>
      </p:sp>
      <p:sp>
        <p:nvSpPr>
          <p:cNvPr id="323" name="Google Shape;323;g356f0661d04_0_1183"/>
          <p:cNvSpPr txBox="1"/>
          <p:nvPr>
            <p:ph idx="1" type="subTitle"/>
          </p:nvPr>
        </p:nvSpPr>
        <p:spPr>
          <a:xfrm>
            <a:off x="939450" y="4734625"/>
            <a:ext cx="5396400" cy="6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results and insights from the analysis</a:t>
            </a:r>
            <a:endParaRPr/>
          </a:p>
        </p:txBody>
      </p:sp>
      <p:sp>
        <p:nvSpPr>
          <p:cNvPr id="324" name="Google Shape;324;g356f0661d04_0_1183"/>
          <p:cNvSpPr txBox="1"/>
          <p:nvPr/>
        </p:nvSpPr>
        <p:spPr>
          <a:xfrm>
            <a:off x="7525" y="2781367"/>
            <a:ext cx="6627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3</a:t>
            </a:r>
            <a:endParaRPr b="1" sz="4800">
              <a:solidFill>
                <a:schemeClr val="lt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325" name="Google Shape;325;g356f0661d04_0_118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odeling Approach. Click the audio icon to hear the presentation." id="330" name="Google Shape;330;g356f0661d04_0_1307"/>
          <p:cNvSpPr txBox="1"/>
          <p:nvPr>
            <p:ph idx="4294967295"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Approach</a:t>
            </a:r>
            <a:endParaRPr/>
          </a:p>
        </p:txBody>
      </p:sp>
      <p:sp>
        <p:nvSpPr>
          <p:cNvPr id="331" name="Google Shape;331;g356f0661d04_0_1307"/>
          <p:cNvSpPr/>
          <p:nvPr/>
        </p:nvSpPr>
        <p:spPr>
          <a:xfrm>
            <a:off x="866575" y="1983625"/>
            <a:ext cx="1779600" cy="37095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t" bIns="91425" lIns="91425" spcFirstLastPara="1" rIns="13716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32" name="Google Shape;332;g356f0661d04_0_1307"/>
          <p:cNvSpPr/>
          <p:nvPr/>
        </p:nvSpPr>
        <p:spPr>
          <a:xfrm>
            <a:off x="2729025" y="1983625"/>
            <a:ext cx="1779600" cy="37095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t" bIns="91425" lIns="1371600" spcFirstLastPara="1" rIns="91425" wrap="square" tIns="91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33" name="Google Shape;333;g356f0661d04_0_1307"/>
          <p:cNvSpPr/>
          <p:nvPr/>
        </p:nvSpPr>
        <p:spPr>
          <a:xfrm flipH="1">
            <a:off x="6500825" y="1983625"/>
            <a:ext cx="1843500" cy="37095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b" bIns="91425" lIns="91425" spcFirstLastPara="1" rIns="13716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34" name="Google Shape;334;g356f0661d04_0_1307"/>
          <p:cNvSpPr/>
          <p:nvPr/>
        </p:nvSpPr>
        <p:spPr>
          <a:xfrm>
            <a:off x="4530575" y="1983625"/>
            <a:ext cx="1843500" cy="37095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b" bIns="91425" lIns="1371600" spcFirstLastPara="1" rIns="91425" wrap="square" tIns="91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335" name="Google Shape;335;g356f0661d04_0_1307"/>
          <p:cNvPicPr preferRelativeResize="0"/>
          <p:nvPr/>
        </p:nvPicPr>
        <p:blipFill rotWithShape="1">
          <a:blip r:embed="rId3">
            <a:alphaModFix/>
          </a:blip>
          <a:srcRect b="0" l="25383" r="34125" t="0"/>
          <a:stretch/>
        </p:blipFill>
        <p:spPr>
          <a:xfrm>
            <a:off x="2646175" y="1983625"/>
            <a:ext cx="82850" cy="37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56f0661d04_0_1307"/>
          <p:cNvPicPr preferRelativeResize="0"/>
          <p:nvPr/>
        </p:nvPicPr>
        <p:blipFill rotWithShape="1">
          <a:blip r:embed="rId3">
            <a:alphaModFix/>
          </a:blip>
          <a:srcRect b="0" l="25383" r="34125" t="0"/>
          <a:stretch/>
        </p:blipFill>
        <p:spPr>
          <a:xfrm>
            <a:off x="4530575" y="1983625"/>
            <a:ext cx="82850" cy="37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56f0661d04_0_1307"/>
          <p:cNvPicPr preferRelativeResize="0"/>
          <p:nvPr/>
        </p:nvPicPr>
        <p:blipFill rotWithShape="1">
          <a:blip r:embed="rId3">
            <a:alphaModFix/>
          </a:blip>
          <a:srcRect b="0" l="25383" r="34125" t="0"/>
          <a:stretch/>
        </p:blipFill>
        <p:spPr>
          <a:xfrm>
            <a:off x="6396025" y="1983625"/>
            <a:ext cx="82850" cy="37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56f0661d04_0_1307"/>
          <p:cNvSpPr txBox="1"/>
          <p:nvPr/>
        </p:nvSpPr>
        <p:spPr>
          <a:xfrm>
            <a:off x="982650" y="3234075"/>
            <a:ext cx="1555800" cy="2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C444E"/>
                </a:solidFill>
                <a:latin typeface="News Cycle"/>
                <a:ea typeface="News Cycle"/>
                <a:cs typeface="News Cycle"/>
                <a:sym typeface="News Cycle"/>
              </a:rPr>
              <a:t>Evaluated </a:t>
            </a:r>
            <a:r>
              <a:rPr b="1" lang="en-US">
                <a:solidFill>
                  <a:srgbClr val="2C444E"/>
                </a:solidFill>
                <a:latin typeface="News Cycle"/>
                <a:ea typeface="News Cycle"/>
                <a:cs typeface="News Cycle"/>
                <a:sym typeface="News Cycle"/>
              </a:rPr>
              <a:t>multiple regression algorithms</a:t>
            </a:r>
            <a:r>
              <a:rPr lang="en-US">
                <a:solidFill>
                  <a:srgbClr val="2C444E"/>
                </a:solidFill>
                <a:latin typeface="News Cycle"/>
                <a:ea typeface="News Cycle"/>
                <a:cs typeface="News Cycle"/>
                <a:sym typeface="News Cycle"/>
              </a:rPr>
              <a:t>: SVR, Random Forest, Gradient Boosting, XGBoost(best performance)</a:t>
            </a:r>
            <a:endParaRPr sz="24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39" name="Google Shape;339;g356f0661d04_0_1307"/>
          <p:cNvSpPr txBox="1"/>
          <p:nvPr/>
        </p:nvSpPr>
        <p:spPr>
          <a:xfrm>
            <a:off x="2851900" y="3234075"/>
            <a:ext cx="1555800" cy="2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Optimized with </a:t>
            </a:r>
            <a:r>
              <a:rPr b="1" lang="en-US"/>
              <a:t>grid search</a:t>
            </a:r>
            <a:endParaRPr>
              <a:solidFill>
                <a:srgbClr val="2C444E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40" name="Google Shape;340;g356f0661d04_0_1307"/>
          <p:cNvSpPr txBox="1"/>
          <p:nvPr/>
        </p:nvSpPr>
        <p:spPr>
          <a:xfrm>
            <a:off x="4674425" y="3234075"/>
            <a:ext cx="1555800" cy="2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C444E"/>
                </a:solidFill>
                <a:latin typeface="News Cycle"/>
                <a:ea typeface="News Cycle"/>
                <a:cs typeface="News Cycle"/>
                <a:sym typeface="News Cycle"/>
              </a:rPr>
              <a:t>Validated across </a:t>
            </a:r>
            <a:r>
              <a:rPr b="1" lang="en-US">
                <a:solidFill>
                  <a:srgbClr val="2C444E"/>
                </a:solidFill>
                <a:latin typeface="News Cycle"/>
                <a:ea typeface="News Cycle"/>
                <a:cs typeface="News Cycle"/>
                <a:sym typeface="News Cycle"/>
              </a:rPr>
              <a:t>geographic regions</a:t>
            </a:r>
            <a:endParaRPr>
              <a:solidFill>
                <a:srgbClr val="2C444E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41" name="Google Shape;341;g356f0661d04_0_1307"/>
          <p:cNvSpPr txBox="1"/>
          <p:nvPr/>
        </p:nvSpPr>
        <p:spPr>
          <a:xfrm>
            <a:off x="6605550" y="3234075"/>
            <a:ext cx="1555800" cy="2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C444E"/>
                </a:solidFill>
                <a:latin typeface="News Cycle"/>
                <a:ea typeface="News Cycle"/>
                <a:cs typeface="News Cycle"/>
                <a:sym typeface="News Cycle"/>
              </a:rPr>
              <a:t>Dimensionality reduction </a:t>
            </a:r>
            <a:r>
              <a:rPr lang="en-US">
                <a:solidFill>
                  <a:srgbClr val="2C444E"/>
                </a:solidFill>
                <a:latin typeface="News Cycle"/>
                <a:ea typeface="News Cycle"/>
                <a:cs typeface="News Cycle"/>
                <a:sym typeface="News Cycle"/>
              </a:rPr>
              <a:t>tested (not used; decreased performance)</a:t>
            </a:r>
            <a:endParaRPr>
              <a:solidFill>
                <a:srgbClr val="2C444E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342" name="Google Shape;342;g356f0661d04_0_13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725" y="2127250"/>
            <a:ext cx="999300" cy="999300"/>
          </a:xfrm>
          <a:prstGeom prst="rect">
            <a:avLst/>
          </a:prstGeom>
          <a:solidFill>
            <a:srgbClr val="00A4CA">
              <a:alpha val="10060"/>
            </a:srgbClr>
          </a:solidFill>
          <a:ln cap="flat" cmpd="sng" w="9525">
            <a:solidFill>
              <a:srgbClr val="E5F6F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3" name="Google Shape;343;g356f0661d04_0_13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7088" y="2127250"/>
            <a:ext cx="882587" cy="99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56f0661d04_0_13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3825" y="2127250"/>
            <a:ext cx="1236312" cy="99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56f0661d04_0_130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0175" y="2127250"/>
            <a:ext cx="1236300" cy="9993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</p:pic>
      <p:sp>
        <p:nvSpPr>
          <p:cNvPr id="346" name="Google Shape;346;g356f0661d04_0_1307"/>
          <p:cNvSpPr/>
          <p:nvPr/>
        </p:nvSpPr>
        <p:spPr>
          <a:xfrm>
            <a:off x="2381302" y="2467675"/>
            <a:ext cx="612600" cy="17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82A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47" name="Google Shape;347;g356f0661d04_0_1307"/>
          <p:cNvSpPr/>
          <p:nvPr/>
        </p:nvSpPr>
        <p:spPr>
          <a:xfrm>
            <a:off x="4214802" y="2467675"/>
            <a:ext cx="612600" cy="17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82A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348" name="Google Shape;348;g356f0661d04_0_1307"/>
          <p:cNvSpPr/>
          <p:nvPr/>
        </p:nvSpPr>
        <p:spPr>
          <a:xfrm>
            <a:off x="6150102" y="2467675"/>
            <a:ext cx="612600" cy="17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82A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349" name="Google Shape;349;g356f0661d04_0_1307" title="Modeling Approach_Slide10_40seconds.mp3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26475" y="363900"/>
            <a:ext cx="886968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56f0661d04_0_1307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odel Performance. Click the audio icon to hear the presentation." id="355" name="Google Shape;355;g356f0661d04_0_1426"/>
          <p:cNvSpPr txBox="1"/>
          <p:nvPr>
            <p:ph type="title"/>
          </p:nvPr>
        </p:nvSpPr>
        <p:spPr>
          <a:xfrm>
            <a:off x="855300" y="879267"/>
            <a:ext cx="40890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</a:t>
            </a:r>
            <a:r>
              <a:rPr lang="en-US"/>
              <a:t>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6" name="Google Shape;356;g356f0661d04_0_1426"/>
          <p:cNvGrpSpPr/>
          <p:nvPr/>
        </p:nvGrpSpPr>
        <p:grpSpPr>
          <a:xfrm>
            <a:off x="855320" y="2186379"/>
            <a:ext cx="4650680" cy="975576"/>
            <a:chOff x="710674" y="1323164"/>
            <a:chExt cx="7300911" cy="731700"/>
          </a:xfrm>
        </p:grpSpPr>
        <p:sp>
          <p:nvSpPr>
            <p:cNvPr id="357" name="Google Shape;357;g356f0661d04_0_1426"/>
            <p:cNvSpPr txBox="1"/>
            <p:nvPr/>
          </p:nvSpPr>
          <p:spPr>
            <a:xfrm>
              <a:off x="710674" y="1373350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accent2"/>
                  </a:solidFill>
                  <a:latin typeface="News Cycle"/>
                  <a:ea typeface="News Cycle"/>
                  <a:cs typeface="News Cycle"/>
                  <a:sym typeface="News Cycle"/>
                </a:rPr>
                <a:t>Selected Model</a:t>
              </a:r>
              <a:r>
                <a:rPr lang="en-US" sz="3600">
                  <a:solidFill>
                    <a:schemeClr val="accent2"/>
                  </a:solidFill>
                  <a:latin typeface="News Cycle"/>
                  <a:ea typeface="News Cycle"/>
                  <a:cs typeface="News Cycle"/>
                  <a:sym typeface="News Cycle"/>
                </a:rPr>
                <a:t> </a:t>
              </a:r>
              <a:endParaRPr sz="3600">
                <a:solidFill>
                  <a:schemeClr val="accent2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58" name="Google Shape;358;g356f0661d04_0_1426"/>
            <p:cNvSpPr/>
            <p:nvPr/>
          </p:nvSpPr>
          <p:spPr>
            <a:xfrm>
              <a:off x="2789785" y="1323164"/>
              <a:ext cx="5221800" cy="731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59" name="Google Shape;359;g356f0661d04_0_1426"/>
            <p:cNvSpPr txBox="1"/>
            <p:nvPr/>
          </p:nvSpPr>
          <p:spPr>
            <a:xfrm>
              <a:off x="2914389" y="1407440"/>
              <a:ext cx="47658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XGBoost Regressor</a:t>
              </a:r>
              <a:endParaRPr sz="12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grpSp>
        <p:nvGrpSpPr>
          <p:cNvPr id="360" name="Google Shape;360;g356f0661d04_0_1426"/>
          <p:cNvGrpSpPr/>
          <p:nvPr/>
        </p:nvGrpSpPr>
        <p:grpSpPr>
          <a:xfrm>
            <a:off x="855321" y="3365497"/>
            <a:ext cx="4420406" cy="975576"/>
            <a:chOff x="710675" y="2207525"/>
            <a:chExt cx="6939412" cy="731700"/>
          </a:xfrm>
        </p:grpSpPr>
        <p:sp>
          <p:nvSpPr>
            <p:cNvPr id="361" name="Google Shape;361;g356f0661d04_0_1426"/>
            <p:cNvSpPr txBox="1"/>
            <p:nvPr/>
          </p:nvSpPr>
          <p:spPr>
            <a:xfrm>
              <a:off x="710675" y="2257725"/>
              <a:ext cx="20046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accen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Performance</a:t>
              </a:r>
              <a:endParaRPr sz="2000">
                <a:solidFill>
                  <a:schemeClr val="accen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62" name="Google Shape;362;g356f0661d04_0_1426"/>
            <p:cNvSpPr/>
            <p:nvPr/>
          </p:nvSpPr>
          <p:spPr>
            <a:xfrm>
              <a:off x="2789787" y="2207525"/>
              <a:ext cx="4860300" cy="73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63" name="Google Shape;363;g356f0661d04_0_1426"/>
            <p:cNvSpPr txBox="1"/>
            <p:nvPr/>
          </p:nvSpPr>
          <p:spPr>
            <a:xfrm>
              <a:off x="2914387" y="2414096"/>
              <a:ext cx="43731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Test R²: 0.3617 (36.2% variance explained)</a:t>
              </a:r>
              <a:endParaRPr sz="16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RMSE: 0.1378</a:t>
              </a:r>
              <a:endParaRPr sz="1600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grpSp>
        <p:nvGrpSpPr>
          <p:cNvPr id="364" name="Google Shape;364;g356f0661d04_0_1426"/>
          <p:cNvGrpSpPr/>
          <p:nvPr/>
        </p:nvGrpSpPr>
        <p:grpSpPr>
          <a:xfrm>
            <a:off x="855320" y="4540268"/>
            <a:ext cx="4189366" cy="975576"/>
            <a:chOff x="710675" y="3088625"/>
            <a:chExt cx="6576713" cy="731700"/>
          </a:xfrm>
        </p:grpSpPr>
        <p:sp>
          <p:nvSpPr>
            <p:cNvPr id="365" name="Google Shape;365;g356f0661d04_0_1426"/>
            <p:cNvSpPr txBox="1"/>
            <p:nvPr/>
          </p:nvSpPr>
          <p:spPr>
            <a:xfrm>
              <a:off x="710675" y="3138825"/>
              <a:ext cx="20043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4C9DD"/>
                  </a:solidFill>
                  <a:latin typeface="News Cycle"/>
                  <a:ea typeface="News Cycle"/>
                  <a:cs typeface="News Cycle"/>
                  <a:sym typeface="News Cycle"/>
                </a:rPr>
                <a:t>Validation</a:t>
              </a:r>
              <a:endParaRPr sz="2000">
                <a:solidFill>
                  <a:srgbClr val="34C9DD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66" name="Google Shape;366;g356f0661d04_0_1426"/>
            <p:cNvSpPr/>
            <p:nvPr/>
          </p:nvSpPr>
          <p:spPr>
            <a:xfrm>
              <a:off x="2789787" y="3088625"/>
              <a:ext cx="4497600" cy="731700"/>
            </a:xfrm>
            <a:prstGeom prst="rect">
              <a:avLst/>
            </a:prstGeom>
            <a:solidFill>
              <a:srgbClr val="34C9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67" name="Google Shape;367;g356f0661d04_0_1426"/>
            <p:cNvSpPr txBox="1"/>
            <p:nvPr/>
          </p:nvSpPr>
          <p:spPr>
            <a:xfrm>
              <a:off x="2914388" y="3295180"/>
              <a:ext cx="38499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Model tested across all U.S. regions with no major geographic bias</a:t>
              </a:r>
              <a:endParaRPr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pic>
        <p:nvPicPr>
          <p:cNvPr id="368" name="Google Shape;368;g356f0661d04_0_14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3850" y="2186375"/>
            <a:ext cx="3387085" cy="21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56f0661d04_0_14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5725" y="4650450"/>
            <a:ext cx="3618151" cy="1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g356f0661d04_0_1426" title="Model Performance_Slide11_40seconds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4625" y="32305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56f0661d04_0_1426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odel Comparison. Click the audio icon to hear the presentation." id="376" name="Google Shape;376;p14"/>
          <p:cNvSpPr txBox="1"/>
          <p:nvPr>
            <p:ph type="title"/>
          </p:nvPr>
        </p:nvSpPr>
        <p:spPr>
          <a:xfrm>
            <a:off x="855300" y="879267"/>
            <a:ext cx="40890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Model Comparison</a:t>
            </a:r>
            <a:endParaRPr/>
          </a:p>
        </p:txBody>
      </p:sp>
      <p:sp>
        <p:nvSpPr>
          <p:cNvPr id="377" name="Google Shape;377;p14"/>
          <p:cNvSpPr txBox="1"/>
          <p:nvPr/>
        </p:nvSpPr>
        <p:spPr>
          <a:xfrm>
            <a:off x="628650" y="2075400"/>
            <a:ext cx="39435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Why XGBoost Works Best?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XGBoost 0.362 Best performance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Gradient Boosting 0.356 Strong but less robust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Random Forest 0.352 Good but less generalizable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SVR 0.154 Couldn't capture complexity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Tree-based models outperformed; PCA reduced performance (36.2% → 13.9%)</a:t>
            </a:r>
            <a:endParaRPr i="0" sz="1600" u="none" cap="none" strike="noStrike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graphicFrame>
        <p:nvGraphicFramePr>
          <p:cNvPr id="378" name="Google Shape;378;p14"/>
          <p:cNvGraphicFramePr/>
          <p:nvPr/>
        </p:nvGraphicFramePr>
        <p:xfrm>
          <a:off x="4727725" y="285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{E0BEF352-18AB-4675-9D32-9B83AC7979A5}</a:tableStyleId>
              </a:tblPr>
              <a:tblGrid>
                <a:gridCol w="817225"/>
                <a:gridCol w="593750"/>
                <a:gridCol w="617300"/>
                <a:gridCol w="602875"/>
                <a:gridCol w="606400"/>
                <a:gridCol w="947225"/>
              </a:tblGrid>
              <a:tr h="69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No-PCA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R²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R²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RMSE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RMSE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SVR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Underfit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0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Competitive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Performance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1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 w/PCA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Underfit/ Lower Performance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sp>
        <p:nvSpPr>
          <p:cNvPr id="379" name="Google Shape;379;p14"/>
          <p:cNvSpPr txBox="1"/>
          <p:nvPr>
            <p:ph type="title"/>
          </p:nvPr>
        </p:nvSpPr>
        <p:spPr>
          <a:xfrm>
            <a:off x="4727725" y="1785717"/>
            <a:ext cx="40890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1600"/>
              <a:t>Model Performance Metrics: Comparing Train/Test Results Across Approaches</a:t>
            </a:r>
            <a:endParaRPr sz="1600"/>
          </a:p>
        </p:txBody>
      </p:sp>
      <p:pic>
        <p:nvPicPr>
          <p:cNvPr id="380" name="Google Shape;380;p14" title="Model Comparison_Slide15_47seconds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4750" y="260150"/>
            <a:ext cx="923544" cy="9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4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Feature Importance. Click the audio icon to hear the presentation." id="386" name="Google Shape;386;g356f0661d04_0_1546"/>
          <p:cNvSpPr txBox="1"/>
          <p:nvPr>
            <p:ph type="title"/>
          </p:nvPr>
        </p:nvSpPr>
        <p:spPr>
          <a:xfrm>
            <a:off x="855300" y="764131"/>
            <a:ext cx="6602100" cy="133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Importance</a:t>
            </a:r>
            <a:endParaRPr/>
          </a:p>
        </p:txBody>
      </p:sp>
      <p:cxnSp>
        <p:nvCxnSpPr>
          <p:cNvPr id="387" name="Google Shape;387;g356f0661d04_0_1546"/>
          <p:cNvCxnSpPr/>
          <p:nvPr/>
        </p:nvCxnSpPr>
        <p:spPr>
          <a:xfrm>
            <a:off x="3080541" y="2739697"/>
            <a:ext cx="830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88" name="Google Shape;388;g356f0661d04_0_1546"/>
          <p:cNvSpPr txBox="1"/>
          <p:nvPr/>
        </p:nvSpPr>
        <p:spPr>
          <a:xfrm>
            <a:off x="3959103" y="2559500"/>
            <a:ext cx="14010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 score: 114</a:t>
            </a:r>
            <a:endParaRPr sz="10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cxnSp>
        <p:nvCxnSpPr>
          <p:cNvPr id="389" name="Google Shape;389;g356f0661d04_0_1546"/>
          <p:cNvCxnSpPr/>
          <p:nvPr/>
        </p:nvCxnSpPr>
        <p:spPr>
          <a:xfrm>
            <a:off x="2958260" y="3244109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90" name="Google Shape;390;g356f0661d04_0_1546"/>
          <p:cNvSpPr txBox="1"/>
          <p:nvPr/>
        </p:nvSpPr>
        <p:spPr>
          <a:xfrm>
            <a:off x="3959103" y="3063900"/>
            <a:ext cx="14010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 score: 52</a:t>
            </a:r>
            <a:endParaRPr sz="10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cxnSp>
        <p:nvCxnSpPr>
          <p:cNvPr id="391" name="Google Shape;391;g356f0661d04_0_1546"/>
          <p:cNvCxnSpPr/>
          <p:nvPr/>
        </p:nvCxnSpPr>
        <p:spPr>
          <a:xfrm>
            <a:off x="2784490" y="3748521"/>
            <a:ext cx="1126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92" name="Google Shape;392;g356f0661d04_0_1546"/>
          <p:cNvSpPr txBox="1"/>
          <p:nvPr/>
        </p:nvSpPr>
        <p:spPr>
          <a:xfrm>
            <a:off x="3959103" y="3568300"/>
            <a:ext cx="14010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 score: 50</a:t>
            </a:r>
            <a:endParaRPr sz="10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cxnSp>
        <p:nvCxnSpPr>
          <p:cNvPr id="393" name="Google Shape;393;g356f0661d04_0_1546"/>
          <p:cNvCxnSpPr/>
          <p:nvPr/>
        </p:nvCxnSpPr>
        <p:spPr>
          <a:xfrm>
            <a:off x="2636465" y="4252906"/>
            <a:ext cx="12741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94" name="Google Shape;394;g356f0661d04_0_1546"/>
          <p:cNvSpPr txBox="1"/>
          <p:nvPr/>
        </p:nvSpPr>
        <p:spPr>
          <a:xfrm>
            <a:off x="3959103" y="4072701"/>
            <a:ext cx="14010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 score: 45</a:t>
            </a:r>
            <a:endParaRPr sz="10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cxnSp>
        <p:nvCxnSpPr>
          <p:cNvPr id="395" name="Google Shape;395;g356f0661d04_0_1546"/>
          <p:cNvCxnSpPr/>
          <p:nvPr/>
        </p:nvCxnSpPr>
        <p:spPr>
          <a:xfrm>
            <a:off x="2475557" y="4757318"/>
            <a:ext cx="1435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96" name="Google Shape;396;g356f0661d04_0_1546"/>
          <p:cNvSpPr txBox="1"/>
          <p:nvPr/>
        </p:nvSpPr>
        <p:spPr>
          <a:xfrm>
            <a:off x="3959103" y="4577101"/>
            <a:ext cx="14010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 score: 43</a:t>
            </a:r>
            <a:endParaRPr sz="10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grpSp>
        <p:nvGrpSpPr>
          <p:cNvPr id="397" name="Google Shape;397;g356f0661d04_0_1546"/>
          <p:cNvGrpSpPr/>
          <p:nvPr/>
        </p:nvGrpSpPr>
        <p:grpSpPr>
          <a:xfrm>
            <a:off x="309008" y="2177038"/>
            <a:ext cx="2834190" cy="2898745"/>
            <a:chOff x="3778727" y="4460423"/>
            <a:chExt cx="720160" cy="552426"/>
          </a:xfrm>
        </p:grpSpPr>
        <p:sp>
          <p:nvSpPr>
            <p:cNvPr id="398" name="Google Shape;398;g356f0661d04_0_1546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2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Total Population in Poverty</a:t>
              </a:r>
              <a:endParaRPr b="1" i="0" sz="12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399" name="Google Shape;399;g356f0661d04_0_1546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2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Single Parent Rates</a:t>
              </a:r>
              <a:endParaRPr b="1" i="0" sz="12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400" name="Google Shape;400;g356f0661d04_0_1546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2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Housing Costs</a:t>
              </a:r>
              <a:endParaRPr b="1" i="0" sz="12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401" name="Google Shape;401;g356f0661d04_0_1546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2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Disability Rates</a:t>
              </a:r>
              <a:endParaRPr b="1" i="0" sz="12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402" name="Google Shape;402;g356f0661d04_0_1546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1" i="0" sz="12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  <p:sp>
          <p:nvSpPr>
            <p:cNvPr id="403" name="Google Shape;403;g356f0661d04_0_1546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200">
                  <a:solidFill>
                    <a:schemeClr val="lt1"/>
                  </a:solidFill>
                  <a:latin typeface="News Cycle"/>
                  <a:ea typeface="News Cycle"/>
                  <a:cs typeface="News Cycle"/>
                  <a:sym typeface="News Cycle"/>
                </a:rPr>
                <a:t>Distance to ICU</a:t>
              </a:r>
              <a:endParaRPr b="1" i="0" sz="1200" u="none" cap="none" strike="noStrike">
                <a:solidFill>
                  <a:schemeClr val="lt1"/>
                </a:solidFill>
                <a:latin typeface="News Cycle"/>
                <a:ea typeface="News Cycle"/>
                <a:cs typeface="News Cycle"/>
                <a:sym typeface="News Cycle"/>
              </a:endParaRPr>
            </a:p>
          </p:txBody>
        </p:sp>
      </p:grpSp>
      <p:sp>
        <p:nvSpPr>
          <p:cNvPr id="404" name="Google Shape;404;g356f0661d04_0_1546"/>
          <p:cNvSpPr txBox="1"/>
          <p:nvPr/>
        </p:nvSpPr>
        <p:spPr>
          <a:xfrm>
            <a:off x="432950" y="5145588"/>
            <a:ext cx="86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g356f0661d04_0_1546" title="feature importance slide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7275" y="241023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56f0661d04_0_1546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6f0661d04_0_1676"/>
          <p:cNvSpPr/>
          <p:nvPr/>
        </p:nvSpPr>
        <p:spPr>
          <a:xfrm>
            <a:off x="260348" y="2860134"/>
            <a:ext cx="735233" cy="1138426"/>
          </a:xfrm>
          <a:custGeom>
            <a:rect b="b" l="l" r="r" t="t"/>
            <a:pathLst>
              <a:path extrusionOk="0" h="457199" w="393699">
                <a:moveTo>
                  <a:pt x="393700" y="423863"/>
                </a:moveTo>
                <a:cubicBezTo>
                  <a:pt x="393700" y="442274"/>
                  <a:pt x="379012" y="457200"/>
                  <a:pt x="360893" y="457200"/>
                </a:cubicBezTo>
                <a:cubicBezTo>
                  <a:pt x="360893" y="457200"/>
                  <a:pt x="360892" y="457200"/>
                  <a:pt x="360892" y="457200"/>
                </a:cubicBezTo>
                <a:lnTo>
                  <a:pt x="32808" y="457200"/>
                </a:lnTo>
                <a:cubicBezTo>
                  <a:pt x="14689" y="457200"/>
                  <a:pt x="0" y="442274"/>
                  <a:pt x="0" y="423863"/>
                </a:cubicBezTo>
                <a:cubicBezTo>
                  <a:pt x="0" y="405451"/>
                  <a:pt x="14689" y="390525"/>
                  <a:pt x="32808" y="390525"/>
                </a:cubicBezTo>
                <a:lnTo>
                  <a:pt x="273534" y="390525"/>
                </a:lnTo>
                <a:cubicBezTo>
                  <a:pt x="324697" y="333222"/>
                  <a:pt x="322668" y="245222"/>
                  <a:pt x="268921" y="190416"/>
                </a:cubicBezTo>
                <a:lnTo>
                  <a:pt x="302058" y="156744"/>
                </a:lnTo>
                <a:cubicBezTo>
                  <a:pt x="362964" y="218855"/>
                  <a:pt x="374997" y="314887"/>
                  <a:pt x="331351" y="390525"/>
                </a:cubicBezTo>
                <a:lnTo>
                  <a:pt x="360892" y="390525"/>
                </a:lnTo>
                <a:cubicBezTo>
                  <a:pt x="379011" y="390525"/>
                  <a:pt x="393700" y="405450"/>
                  <a:pt x="393700" y="423862"/>
                </a:cubicBezTo>
                <a:cubicBezTo>
                  <a:pt x="393700" y="423862"/>
                  <a:pt x="393700" y="423863"/>
                  <a:pt x="393700" y="423863"/>
                </a:cubicBezTo>
                <a:close/>
                <a:moveTo>
                  <a:pt x="200910" y="237469"/>
                </a:moveTo>
                <a:lnTo>
                  <a:pt x="346673" y="89355"/>
                </a:lnTo>
                <a:cubicBezTo>
                  <a:pt x="352046" y="83896"/>
                  <a:pt x="352046" y="75044"/>
                  <a:pt x="346673" y="69585"/>
                </a:cubicBezTo>
                <a:lnTo>
                  <a:pt x="304297" y="26526"/>
                </a:lnTo>
                <a:cubicBezTo>
                  <a:pt x="298925" y="21067"/>
                  <a:pt x="290214" y="21067"/>
                  <a:pt x="284841" y="26526"/>
                </a:cubicBezTo>
                <a:lnTo>
                  <a:pt x="139078" y="174640"/>
                </a:lnTo>
                <a:cubicBezTo>
                  <a:pt x="133706" y="180100"/>
                  <a:pt x="133706" y="188951"/>
                  <a:pt x="139078" y="194410"/>
                </a:cubicBezTo>
                <a:lnTo>
                  <a:pt x="181454" y="237469"/>
                </a:lnTo>
                <a:cubicBezTo>
                  <a:pt x="186827" y="242928"/>
                  <a:pt x="195538" y="242928"/>
                  <a:pt x="200910" y="237469"/>
                </a:cubicBezTo>
                <a:close/>
                <a:moveTo>
                  <a:pt x="368660" y="44780"/>
                </a:moveTo>
                <a:lnTo>
                  <a:pt x="368660" y="44780"/>
                </a:lnTo>
                <a:cubicBezTo>
                  <a:pt x="374151" y="39200"/>
                  <a:pt x="374151" y="30154"/>
                  <a:pt x="368660" y="24574"/>
                </a:cubicBezTo>
                <a:lnTo>
                  <a:pt x="348594" y="4185"/>
                </a:lnTo>
                <a:cubicBezTo>
                  <a:pt x="343103" y="-1395"/>
                  <a:pt x="334200" y="-1395"/>
                  <a:pt x="328710" y="4185"/>
                </a:cubicBezTo>
                <a:lnTo>
                  <a:pt x="328710" y="4185"/>
                </a:lnTo>
                <a:cubicBezTo>
                  <a:pt x="323218" y="9764"/>
                  <a:pt x="323218" y="18811"/>
                  <a:pt x="328710" y="24390"/>
                </a:cubicBezTo>
                <a:lnTo>
                  <a:pt x="348775" y="44780"/>
                </a:lnTo>
                <a:cubicBezTo>
                  <a:pt x="354266" y="50359"/>
                  <a:pt x="363169" y="50359"/>
                  <a:pt x="368660" y="44780"/>
                </a:cubicBezTo>
                <a:close/>
                <a:moveTo>
                  <a:pt x="156555" y="260306"/>
                </a:moveTo>
                <a:lnTo>
                  <a:pt x="156555" y="260306"/>
                </a:lnTo>
                <a:cubicBezTo>
                  <a:pt x="162046" y="254726"/>
                  <a:pt x="162046" y="245680"/>
                  <a:pt x="156555" y="240100"/>
                </a:cubicBezTo>
                <a:lnTo>
                  <a:pt x="136489" y="219711"/>
                </a:lnTo>
                <a:cubicBezTo>
                  <a:pt x="130998" y="214132"/>
                  <a:pt x="122095" y="214132"/>
                  <a:pt x="116604" y="219711"/>
                </a:cubicBezTo>
                <a:lnTo>
                  <a:pt x="116604" y="219711"/>
                </a:lnTo>
                <a:cubicBezTo>
                  <a:pt x="111113" y="225290"/>
                  <a:pt x="111113" y="234337"/>
                  <a:pt x="116604" y="239917"/>
                </a:cubicBezTo>
                <a:lnTo>
                  <a:pt x="136670" y="260306"/>
                </a:lnTo>
                <a:cubicBezTo>
                  <a:pt x="142161" y="265885"/>
                  <a:pt x="151064" y="265885"/>
                  <a:pt x="156555" y="260306"/>
                </a:cubicBezTo>
                <a:close/>
                <a:moveTo>
                  <a:pt x="196850" y="357188"/>
                </a:moveTo>
                <a:lnTo>
                  <a:pt x="196850" y="357188"/>
                </a:lnTo>
                <a:cubicBezTo>
                  <a:pt x="196850" y="349297"/>
                  <a:pt x="190555" y="342900"/>
                  <a:pt x="182789" y="342900"/>
                </a:cubicBezTo>
                <a:lnTo>
                  <a:pt x="14061" y="342900"/>
                </a:lnTo>
                <a:cubicBezTo>
                  <a:pt x="6295" y="342900"/>
                  <a:pt x="0" y="349297"/>
                  <a:pt x="0" y="357188"/>
                </a:cubicBezTo>
                <a:lnTo>
                  <a:pt x="0" y="357188"/>
                </a:lnTo>
                <a:cubicBezTo>
                  <a:pt x="0" y="365078"/>
                  <a:pt x="6295" y="371475"/>
                  <a:pt x="14061" y="371475"/>
                </a:cubicBezTo>
                <a:lnTo>
                  <a:pt x="182789" y="371475"/>
                </a:lnTo>
                <a:cubicBezTo>
                  <a:pt x="190555" y="371475"/>
                  <a:pt x="196850" y="365078"/>
                  <a:pt x="196850" y="3571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gional Insights. Click the audio icon to hear the presentation." id="412" name="Google Shape;412;g356f0661d04_0_1676"/>
          <p:cNvSpPr txBox="1"/>
          <p:nvPr>
            <p:ph idx="4294967295" type="ctrTitle"/>
          </p:nvPr>
        </p:nvSpPr>
        <p:spPr>
          <a:xfrm>
            <a:off x="623350" y="357800"/>
            <a:ext cx="5913000" cy="113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Regional Insights</a:t>
            </a:r>
            <a:endParaRPr/>
          </a:p>
        </p:txBody>
      </p:sp>
      <p:sp>
        <p:nvSpPr>
          <p:cNvPr id="413" name="Google Shape;413;g356f0661d04_0_1676"/>
          <p:cNvSpPr txBox="1"/>
          <p:nvPr>
            <p:ph idx="4294967295" type="subTitle"/>
          </p:nvPr>
        </p:nvSpPr>
        <p:spPr>
          <a:xfrm>
            <a:off x="623350" y="1316625"/>
            <a:ext cx="64689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600"/>
              <a:t>Geographic Patterns in Utilization: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14" name="Google Shape;414;g356f0661d04_0_1676"/>
          <p:cNvSpPr txBox="1"/>
          <p:nvPr/>
        </p:nvSpPr>
        <p:spPr>
          <a:xfrm>
            <a:off x="177450" y="5616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g356f0661d04_0_1676" title="Boxplots_Residuals_Reg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876" y="2759398"/>
            <a:ext cx="6430248" cy="383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56f0661d04_0_1676"/>
          <p:cNvSpPr txBox="1"/>
          <p:nvPr/>
        </p:nvSpPr>
        <p:spPr>
          <a:xfrm>
            <a:off x="623350" y="1589700"/>
            <a:ext cx="6468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●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Consistent model performance across regions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○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Regional differences exist but smaller than socioeconomic effects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●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Socioeconomic vulnerability transcends geographic factors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●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Slight underprediction Southern counties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417" name="Google Shape;417;g356f0661d04_0_1676" title="BoxplotExplanation_Slide38sec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3325" y="327800"/>
            <a:ext cx="988825" cy="9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356f0661d04_0_1676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56f0661d04_0_2131"/>
          <p:cNvSpPr txBox="1"/>
          <p:nvPr>
            <p:ph idx="4294967295" type="ctrTitle"/>
          </p:nvPr>
        </p:nvSpPr>
        <p:spPr>
          <a:xfrm>
            <a:off x="855300" y="1067200"/>
            <a:ext cx="7433400" cy="119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0C6A7"/>
                </a:solidFill>
              </a:rPr>
              <a:t>Cluster 0</a:t>
            </a:r>
            <a:endParaRPr>
              <a:solidFill>
                <a:srgbClr val="60C6A7"/>
              </a:solidFill>
            </a:endParaRPr>
          </a:p>
        </p:txBody>
      </p:sp>
      <p:sp>
        <p:nvSpPr>
          <p:cNvPr id="424" name="Google Shape;424;g356f0661d04_0_2131"/>
          <p:cNvSpPr txBox="1"/>
          <p:nvPr>
            <p:ph idx="4294967295" type="subTitle"/>
          </p:nvPr>
        </p:nvSpPr>
        <p:spPr>
          <a:xfrm>
            <a:off x="855300" y="1983344"/>
            <a:ext cx="7433400" cy="6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Higher homeownership, traditional households</a:t>
            </a:r>
            <a:endParaRPr sz="1400"/>
          </a:p>
        </p:txBody>
      </p:sp>
      <p:sp>
        <p:nvSpPr>
          <p:cNvPr id="425" name="Google Shape;425;g356f0661d04_0_2131"/>
          <p:cNvSpPr txBox="1"/>
          <p:nvPr>
            <p:ph idx="4294967295" type="ctrTitle"/>
          </p:nvPr>
        </p:nvSpPr>
        <p:spPr>
          <a:xfrm>
            <a:off x="855300" y="4572391"/>
            <a:ext cx="7433400" cy="119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C9ECB"/>
                </a:solidFill>
              </a:rPr>
              <a:t>Cluster 2</a:t>
            </a:r>
            <a:endParaRPr>
              <a:solidFill>
                <a:srgbClr val="8C9ECB"/>
              </a:solidFill>
            </a:endParaRPr>
          </a:p>
        </p:txBody>
      </p:sp>
      <p:sp>
        <p:nvSpPr>
          <p:cNvPr id="426" name="Google Shape;426;g356f0661d04_0_2131"/>
          <p:cNvSpPr txBox="1"/>
          <p:nvPr>
            <p:ph idx="4294967295" type="subTitle"/>
          </p:nvPr>
        </p:nvSpPr>
        <p:spPr>
          <a:xfrm>
            <a:off x="855300" y="5488535"/>
            <a:ext cx="7433400" cy="6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Urban/suburban, higher incomes, better digital access</a:t>
            </a:r>
            <a:endParaRPr sz="1400"/>
          </a:p>
        </p:txBody>
      </p:sp>
      <p:sp>
        <p:nvSpPr>
          <p:cNvPr id="427" name="Google Shape;427;g356f0661d04_0_2131"/>
          <p:cNvSpPr txBox="1"/>
          <p:nvPr>
            <p:ph idx="4294967295" type="ctrTitle"/>
          </p:nvPr>
        </p:nvSpPr>
        <p:spPr>
          <a:xfrm>
            <a:off x="855300" y="2819796"/>
            <a:ext cx="7433400" cy="119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9A78"/>
                </a:solidFill>
              </a:rPr>
              <a:t>Cluster 1</a:t>
            </a:r>
            <a:endParaRPr>
              <a:solidFill>
                <a:srgbClr val="FF9A78"/>
              </a:solidFill>
            </a:endParaRPr>
          </a:p>
        </p:txBody>
      </p:sp>
      <p:sp>
        <p:nvSpPr>
          <p:cNvPr id="428" name="Google Shape;428;g356f0661d04_0_2131"/>
          <p:cNvSpPr/>
          <p:nvPr/>
        </p:nvSpPr>
        <p:spPr>
          <a:xfrm rot="10800000">
            <a:off x="-112168" y="1164100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60C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56f0661d04_0_2131"/>
          <p:cNvSpPr/>
          <p:nvPr/>
        </p:nvSpPr>
        <p:spPr>
          <a:xfrm rot="10800000">
            <a:off x="-112168" y="2916700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FF9A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56f0661d04_0_2131"/>
          <p:cNvSpPr/>
          <p:nvPr/>
        </p:nvSpPr>
        <p:spPr>
          <a:xfrm rot="10800000">
            <a:off x="-112168" y="4669300"/>
            <a:ext cx="749400" cy="999300"/>
          </a:xfrm>
          <a:prstGeom prst="chord">
            <a:avLst>
              <a:gd fmla="val 2700000" name="adj1"/>
              <a:gd fmla="val 18900274" name="adj2"/>
            </a:avLst>
          </a:prstGeom>
          <a:solidFill>
            <a:srgbClr val="8C9E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g356f0661d04_0_2131"/>
          <p:cNvGrpSpPr/>
          <p:nvPr/>
        </p:nvGrpSpPr>
        <p:grpSpPr>
          <a:xfrm>
            <a:off x="121428" y="4980756"/>
            <a:ext cx="282184" cy="376230"/>
            <a:chOff x="6845399" y="3630764"/>
            <a:chExt cx="457200" cy="457200"/>
          </a:xfrm>
        </p:grpSpPr>
        <p:sp>
          <p:nvSpPr>
            <p:cNvPr id="432" name="Google Shape;432;g356f0661d04_0_2131"/>
            <p:cNvSpPr/>
            <p:nvPr/>
          </p:nvSpPr>
          <p:spPr>
            <a:xfrm>
              <a:off x="6845399" y="3706725"/>
              <a:ext cx="304800" cy="381238"/>
            </a:xfrm>
            <a:custGeom>
              <a:rect b="b" l="l" r="r" t="t"/>
              <a:pathLst>
                <a:path extrusionOk="0" h="381238" w="304800">
                  <a:moveTo>
                    <a:pt x="158115" y="2143"/>
                  </a:moveTo>
                  <a:cubicBezTo>
                    <a:pt x="154305" y="-714"/>
                    <a:pt x="149543" y="-714"/>
                    <a:pt x="145733" y="2143"/>
                  </a:cubicBezTo>
                  <a:lnTo>
                    <a:pt x="2858" y="121206"/>
                  </a:lnTo>
                  <a:cubicBezTo>
                    <a:pt x="953" y="123111"/>
                    <a:pt x="0" y="125968"/>
                    <a:pt x="0" y="128826"/>
                  </a:cubicBezTo>
                  <a:lnTo>
                    <a:pt x="0" y="381238"/>
                  </a:lnTo>
                  <a:lnTo>
                    <a:pt x="304800" y="381238"/>
                  </a:lnTo>
                  <a:lnTo>
                    <a:pt x="304800" y="128826"/>
                  </a:lnTo>
                  <a:cubicBezTo>
                    <a:pt x="304800" y="125968"/>
                    <a:pt x="303848" y="123111"/>
                    <a:pt x="300990" y="121206"/>
                  </a:cubicBezTo>
                  <a:lnTo>
                    <a:pt x="158115" y="2143"/>
                  </a:lnTo>
                  <a:close/>
                  <a:moveTo>
                    <a:pt x="219075" y="238363"/>
                  </a:moveTo>
                  <a:lnTo>
                    <a:pt x="180975" y="238363"/>
                  </a:lnTo>
                  <a:lnTo>
                    <a:pt x="180975" y="276463"/>
                  </a:lnTo>
                  <a:cubicBezTo>
                    <a:pt x="180975" y="284083"/>
                    <a:pt x="178118" y="291703"/>
                    <a:pt x="172403" y="296466"/>
                  </a:cubicBezTo>
                  <a:cubicBezTo>
                    <a:pt x="167640" y="302181"/>
                    <a:pt x="160020" y="305038"/>
                    <a:pt x="152400" y="305038"/>
                  </a:cubicBezTo>
                  <a:cubicBezTo>
                    <a:pt x="136208" y="305038"/>
                    <a:pt x="123825" y="292656"/>
                    <a:pt x="123825" y="276463"/>
                  </a:cubicBezTo>
                  <a:lnTo>
                    <a:pt x="123825" y="238363"/>
                  </a:lnTo>
                  <a:lnTo>
                    <a:pt x="85725" y="238363"/>
                  </a:lnTo>
                  <a:cubicBezTo>
                    <a:pt x="78105" y="238363"/>
                    <a:pt x="70485" y="235506"/>
                    <a:pt x="65723" y="229791"/>
                  </a:cubicBezTo>
                  <a:cubicBezTo>
                    <a:pt x="60008" y="225028"/>
                    <a:pt x="57150" y="217408"/>
                    <a:pt x="57150" y="209788"/>
                  </a:cubicBezTo>
                  <a:cubicBezTo>
                    <a:pt x="57150" y="193596"/>
                    <a:pt x="69533" y="181213"/>
                    <a:pt x="85725" y="181213"/>
                  </a:cubicBezTo>
                  <a:lnTo>
                    <a:pt x="123825" y="181213"/>
                  </a:lnTo>
                  <a:lnTo>
                    <a:pt x="123825" y="143113"/>
                  </a:lnTo>
                  <a:cubicBezTo>
                    <a:pt x="123825" y="135493"/>
                    <a:pt x="126683" y="127873"/>
                    <a:pt x="132398" y="123111"/>
                  </a:cubicBezTo>
                  <a:cubicBezTo>
                    <a:pt x="138113" y="118348"/>
                    <a:pt x="144780" y="114538"/>
                    <a:pt x="152400" y="114538"/>
                  </a:cubicBezTo>
                  <a:cubicBezTo>
                    <a:pt x="168593" y="114538"/>
                    <a:pt x="180975" y="126921"/>
                    <a:pt x="180975" y="143113"/>
                  </a:cubicBezTo>
                  <a:lnTo>
                    <a:pt x="180975" y="181213"/>
                  </a:lnTo>
                  <a:lnTo>
                    <a:pt x="219075" y="181213"/>
                  </a:lnTo>
                  <a:cubicBezTo>
                    <a:pt x="226695" y="181213"/>
                    <a:pt x="234315" y="184071"/>
                    <a:pt x="239078" y="189786"/>
                  </a:cubicBezTo>
                  <a:cubicBezTo>
                    <a:pt x="243840" y="195501"/>
                    <a:pt x="247650" y="202168"/>
                    <a:pt x="247650" y="209788"/>
                  </a:cubicBezTo>
                  <a:cubicBezTo>
                    <a:pt x="247650" y="225981"/>
                    <a:pt x="235268" y="238363"/>
                    <a:pt x="219075" y="2383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g356f0661d04_0_2131"/>
            <p:cNvSpPr/>
            <p:nvPr/>
          </p:nvSpPr>
          <p:spPr>
            <a:xfrm>
              <a:off x="7169249" y="3630764"/>
              <a:ext cx="133350" cy="457200"/>
            </a:xfrm>
            <a:custGeom>
              <a:rect b="b" l="l" r="r" t="t"/>
              <a:pathLst>
                <a:path extrusionOk="0" h="457200" w="133350">
                  <a:moveTo>
                    <a:pt x="28575" y="19050"/>
                  </a:moveTo>
                  <a:lnTo>
                    <a:pt x="28575" y="14288"/>
                  </a:lnTo>
                  <a:cubicBezTo>
                    <a:pt x="28575" y="6668"/>
                    <a:pt x="21907" y="0"/>
                    <a:pt x="14288" y="0"/>
                  </a:cubicBezTo>
                  <a:cubicBezTo>
                    <a:pt x="6668" y="0"/>
                    <a:pt x="0" y="6668"/>
                    <a:pt x="0" y="14288"/>
                  </a:cubicBezTo>
                  <a:lnTo>
                    <a:pt x="0" y="457200"/>
                  </a:lnTo>
                  <a:lnTo>
                    <a:pt x="28575" y="457200"/>
                  </a:lnTo>
                  <a:lnTo>
                    <a:pt x="28575" y="95250"/>
                  </a:lnTo>
                  <a:lnTo>
                    <a:pt x="133350" y="95250"/>
                  </a:lnTo>
                  <a:lnTo>
                    <a:pt x="133350" y="19050"/>
                  </a:lnTo>
                  <a:lnTo>
                    <a:pt x="28575" y="190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g356f0661d04_0_2131"/>
          <p:cNvGrpSpPr/>
          <p:nvPr/>
        </p:nvGrpSpPr>
        <p:grpSpPr>
          <a:xfrm>
            <a:off x="145232" y="3228232"/>
            <a:ext cx="282184" cy="376230"/>
            <a:chOff x="9616808" y="1369287"/>
            <a:chExt cx="457200" cy="457200"/>
          </a:xfrm>
        </p:grpSpPr>
        <p:sp>
          <p:nvSpPr>
            <p:cNvPr id="435" name="Google Shape;435;g356f0661d04_0_2131"/>
            <p:cNvSpPr/>
            <p:nvPr/>
          </p:nvSpPr>
          <p:spPr>
            <a:xfrm>
              <a:off x="9759628" y="1464537"/>
              <a:ext cx="171538" cy="200025"/>
            </a:xfrm>
            <a:custGeom>
              <a:rect b="b" l="l" r="r" t="t"/>
              <a:pathLst>
                <a:path extrusionOk="0" h="200025" w="171538">
                  <a:moveTo>
                    <a:pt x="123880" y="185738"/>
                  </a:moveTo>
                  <a:lnTo>
                    <a:pt x="123880" y="114300"/>
                  </a:lnTo>
                  <a:lnTo>
                    <a:pt x="123880" y="95250"/>
                  </a:lnTo>
                  <a:lnTo>
                    <a:pt x="123880" y="41053"/>
                  </a:lnTo>
                  <a:cubicBezTo>
                    <a:pt x="134167" y="49054"/>
                    <a:pt x="141215" y="60293"/>
                    <a:pt x="143025" y="73343"/>
                  </a:cubicBezTo>
                  <a:cubicBezTo>
                    <a:pt x="144073" y="80581"/>
                    <a:pt x="150169" y="85725"/>
                    <a:pt x="157217" y="85725"/>
                  </a:cubicBezTo>
                  <a:cubicBezTo>
                    <a:pt x="157884" y="85725"/>
                    <a:pt x="158551" y="85725"/>
                    <a:pt x="159217" y="85630"/>
                  </a:cubicBezTo>
                  <a:cubicBezTo>
                    <a:pt x="167028" y="84487"/>
                    <a:pt x="172457" y="77343"/>
                    <a:pt x="171409" y="69532"/>
                  </a:cubicBezTo>
                  <a:cubicBezTo>
                    <a:pt x="165694" y="29242"/>
                    <a:pt x="129690" y="0"/>
                    <a:pt x="85780" y="0"/>
                  </a:cubicBezTo>
                  <a:cubicBezTo>
                    <a:pt x="41869" y="0"/>
                    <a:pt x="5865" y="29242"/>
                    <a:pt x="150" y="69437"/>
                  </a:cubicBezTo>
                  <a:cubicBezTo>
                    <a:pt x="-993" y="77248"/>
                    <a:pt x="4531" y="84487"/>
                    <a:pt x="12342" y="85534"/>
                  </a:cubicBezTo>
                  <a:cubicBezTo>
                    <a:pt x="20152" y="86678"/>
                    <a:pt x="27391" y="81153"/>
                    <a:pt x="28439" y="73343"/>
                  </a:cubicBezTo>
                  <a:cubicBezTo>
                    <a:pt x="30249" y="60293"/>
                    <a:pt x="37297" y="48959"/>
                    <a:pt x="47584" y="41053"/>
                  </a:cubicBezTo>
                  <a:lnTo>
                    <a:pt x="47584" y="95250"/>
                  </a:lnTo>
                  <a:lnTo>
                    <a:pt x="47584" y="114300"/>
                  </a:lnTo>
                  <a:lnTo>
                    <a:pt x="47584" y="185738"/>
                  </a:lnTo>
                  <a:cubicBezTo>
                    <a:pt x="47584" y="193643"/>
                    <a:pt x="53966" y="200025"/>
                    <a:pt x="61872" y="200025"/>
                  </a:cubicBezTo>
                  <a:cubicBezTo>
                    <a:pt x="69778" y="200025"/>
                    <a:pt x="76159" y="193643"/>
                    <a:pt x="76159" y="185738"/>
                  </a:cubicBezTo>
                  <a:lnTo>
                    <a:pt x="76159" y="114300"/>
                  </a:lnTo>
                  <a:lnTo>
                    <a:pt x="95209" y="114300"/>
                  </a:lnTo>
                  <a:lnTo>
                    <a:pt x="95209" y="185738"/>
                  </a:lnTo>
                  <a:cubicBezTo>
                    <a:pt x="95209" y="193643"/>
                    <a:pt x="101591" y="200025"/>
                    <a:pt x="109497" y="200025"/>
                  </a:cubicBezTo>
                  <a:cubicBezTo>
                    <a:pt x="117403" y="200025"/>
                    <a:pt x="123880" y="193643"/>
                    <a:pt x="123880" y="1857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g356f0661d04_0_2131"/>
            <p:cNvSpPr/>
            <p:nvPr/>
          </p:nvSpPr>
          <p:spPr>
            <a:xfrm>
              <a:off x="9807308" y="136928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76200" y="38100"/>
                  </a:moveTo>
                  <a:cubicBezTo>
                    <a:pt x="76200" y="59142"/>
                    <a:pt x="59142" y="76200"/>
                    <a:pt x="38100" y="76200"/>
                  </a:cubicBezTo>
                  <a:cubicBezTo>
                    <a:pt x="17058" y="76200"/>
                    <a:pt x="0" y="59142"/>
                    <a:pt x="0" y="38100"/>
                  </a:cubicBezTo>
                  <a:cubicBezTo>
                    <a:pt x="0" y="17058"/>
                    <a:pt x="17058" y="0"/>
                    <a:pt x="38100" y="0"/>
                  </a:cubicBezTo>
                  <a:cubicBezTo>
                    <a:pt x="59142" y="0"/>
                    <a:pt x="76200" y="17058"/>
                    <a:pt x="76200" y="38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g356f0661d04_0_2131"/>
            <p:cNvSpPr/>
            <p:nvPr/>
          </p:nvSpPr>
          <p:spPr>
            <a:xfrm>
              <a:off x="9616808" y="1464537"/>
              <a:ext cx="200025" cy="361950"/>
            </a:xfrm>
            <a:custGeom>
              <a:rect b="b" l="l" r="r" t="t"/>
              <a:pathLst>
                <a:path extrusionOk="0" h="361950" w="200025">
                  <a:moveTo>
                    <a:pt x="110109" y="148781"/>
                  </a:moveTo>
                  <a:cubicBezTo>
                    <a:pt x="102394" y="140875"/>
                    <a:pt x="89821" y="140875"/>
                    <a:pt x="82010" y="148781"/>
                  </a:cubicBezTo>
                  <a:cubicBezTo>
                    <a:pt x="74200" y="156686"/>
                    <a:pt x="74295" y="169450"/>
                    <a:pt x="82010" y="177356"/>
                  </a:cubicBezTo>
                  <a:lnTo>
                    <a:pt x="118205" y="212122"/>
                  </a:lnTo>
                  <a:cubicBezTo>
                    <a:pt x="122682" y="216694"/>
                    <a:pt x="122682" y="224123"/>
                    <a:pt x="118205" y="228791"/>
                  </a:cubicBezTo>
                  <a:cubicBezTo>
                    <a:pt x="113728" y="233363"/>
                    <a:pt x="106394" y="233363"/>
                    <a:pt x="101822" y="228791"/>
                  </a:cubicBezTo>
                  <a:lnTo>
                    <a:pt x="57150" y="180975"/>
                  </a:lnTo>
                  <a:lnTo>
                    <a:pt x="57150" y="28575"/>
                  </a:lnTo>
                  <a:cubicBezTo>
                    <a:pt x="57150" y="12764"/>
                    <a:pt x="44101" y="0"/>
                    <a:pt x="28575" y="0"/>
                  </a:cubicBezTo>
                  <a:cubicBezTo>
                    <a:pt x="13049" y="0"/>
                    <a:pt x="0" y="12764"/>
                    <a:pt x="0" y="28575"/>
                  </a:cubicBezTo>
                  <a:lnTo>
                    <a:pt x="0" y="194310"/>
                  </a:lnTo>
                  <a:cubicBezTo>
                    <a:pt x="0" y="201930"/>
                    <a:pt x="2953" y="209169"/>
                    <a:pt x="8287" y="214503"/>
                  </a:cubicBezTo>
                  <a:lnTo>
                    <a:pt x="114300" y="323850"/>
                  </a:lnTo>
                  <a:lnTo>
                    <a:pt x="114300" y="361950"/>
                  </a:lnTo>
                  <a:lnTo>
                    <a:pt x="200025" y="361950"/>
                  </a:lnTo>
                  <a:lnTo>
                    <a:pt x="200025" y="266700"/>
                  </a:lnTo>
                  <a:cubicBezTo>
                    <a:pt x="200025" y="247650"/>
                    <a:pt x="195072" y="233172"/>
                    <a:pt x="182594" y="220504"/>
                  </a:cubicBezTo>
                  <a:lnTo>
                    <a:pt x="110109" y="14878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g356f0661d04_0_2131"/>
            <p:cNvSpPr/>
            <p:nvPr/>
          </p:nvSpPr>
          <p:spPr>
            <a:xfrm>
              <a:off x="9873983" y="1464537"/>
              <a:ext cx="200025" cy="361950"/>
            </a:xfrm>
            <a:custGeom>
              <a:rect b="b" l="l" r="r" t="t"/>
              <a:pathLst>
                <a:path extrusionOk="0" h="361950" w="200025">
                  <a:moveTo>
                    <a:pt x="171450" y="0"/>
                  </a:moveTo>
                  <a:cubicBezTo>
                    <a:pt x="155924" y="0"/>
                    <a:pt x="142875" y="12764"/>
                    <a:pt x="142875" y="28575"/>
                  </a:cubicBezTo>
                  <a:lnTo>
                    <a:pt x="142875" y="180975"/>
                  </a:lnTo>
                  <a:lnTo>
                    <a:pt x="98203" y="228791"/>
                  </a:lnTo>
                  <a:cubicBezTo>
                    <a:pt x="93726" y="233363"/>
                    <a:pt x="86392" y="233363"/>
                    <a:pt x="81820" y="228791"/>
                  </a:cubicBezTo>
                  <a:cubicBezTo>
                    <a:pt x="77343" y="224219"/>
                    <a:pt x="77343" y="216789"/>
                    <a:pt x="81820" y="212122"/>
                  </a:cubicBezTo>
                  <a:lnTo>
                    <a:pt x="118015" y="177356"/>
                  </a:lnTo>
                  <a:cubicBezTo>
                    <a:pt x="125730" y="169450"/>
                    <a:pt x="125730" y="156686"/>
                    <a:pt x="118015" y="148781"/>
                  </a:cubicBezTo>
                  <a:cubicBezTo>
                    <a:pt x="110300" y="140875"/>
                    <a:pt x="97726" y="140875"/>
                    <a:pt x="89916" y="148781"/>
                  </a:cubicBezTo>
                  <a:lnTo>
                    <a:pt x="17431" y="220504"/>
                  </a:lnTo>
                  <a:cubicBezTo>
                    <a:pt x="4953" y="233172"/>
                    <a:pt x="0" y="247650"/>
                    <a:pt x="0" y="266700"/>
                  </a:cubicBezTo>
                  <a:lnTo>
                    <a:pt x="0" y="361950"/>
                  </a:lnTo>
                  <a:lnTo>
                    <a:pt x="85725" y="361950"/>
                  </a:lnTo>
                  <a:lnTo>
                    <a:pt x="85725" y="323850"/>
                  </a:lnTo>
                  <a:lnTo>
                    <a:pt x="191738" y="214503"/>
                  </a:lnTo>
                  <a:cubicBezTo>
                    <a:pt x="197072" y="209169"/>
                    <a:pt x="200025" y="201930"/>
                    <a:pt x="200025" y="194310"/>
                  </a:cubicBezTo>
                  <a:lnTo>
                    <a:pt x="200025" y="28575"/>
                  </a:lnTo>
                  <a:cubicBezTo>
                    <a:pt x="200025" y="12764"/>
                    <a:pt x="186976" y="0"/>
                    <a:pt x="1714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g356f0661d04_0_2131"/>
          <p:cNvGrpSpPr/>
          <p:nvPr/>
        </p:nvGrpSpPr>
        <p:grpSpPr>
          <a:xfrm>
            <a:off x="145314" y="1475580"/>
            <a:ext cx="282036" cy="376229"/>
            <a:chOff x="9681285" y="2939573"/>
            <a:chExt cx="456961" cy="457199"/>
          </a:xfrm>
        </p:grpSpPr>
        <p:sp>
          <p:nvSpPr>
            <p:cNvPr id="440" name="Google Shape;440;g356f0661d04_0_2131"/>
            <p:cNvSpPr/>
            <p:nvPr/>
          </p:nvSpPr>
          <p:spPr>
            <a:xfrm>
              <a:off x="9681285" y="2939573"/>
              <a:ext cx="323373" cy="323850"/>
            </a:xfrm>
            <a:custGeom>
              <a:rect b="b" l="l" r="r" t="t"/>
              <a:pathLst>
                <a:path extrusionOk="0" h="323850" w="323373">
                  <a:moveTo>
                    <a:pt x="299799" y="138113"/>
                  </a:moveTo>
                  <a:cubicBezTo>
                    <a:pt x="331232" y="106680"/>
                    <a:pt x="331232" y="55245"/>
                    <a:pt x="299799" y="23813"/>
                  </a:cubicBezTo>
                  <a:cubicBezTo>
                    <a:pt x="283607" y="7620"/>
                    <a:pt x="263604" y="0"/>
                    <a:pt x="242649" y="0"/>
                  </a:cubicBezTo>
                  <a:cubicBezTo>
                    <a:pt x="221694" y="0"/>
                    <a:pt x="201692" y="7620"/>
                    <a:pt x="185499" y="23813"/>
                  </a:cubicBezTo>
                  <a:lnTo>
                    <a:pt x="104537" y="104775"/>
                  </a:lnTo>
                  <a:lnTo>
                    <a:pt x="23574" y="185738"/>
                  </a:lnTo>
                  <a:cubicBezTo>
                    <a:pt x="-7858" y="217170"/>
                    <a:pt x="-7858" y="268605"/>
                    <a:pt x="23574" y="300038"/>
                  </a:cubicBezTo>
                  <a:cubicBezTo>
                    <a:pt x="39767" y="316230"/>
                    <a:pt x="59769" y="323850"/>
                    <a:pt x="80724" y="323850"/>
                  </a:cubicBezTo>
                  <a:cubicBezTo>
                    <a:pt x="101679" y="323850"/>
                    <a:pt x="121682" y="316230"/>
                    <a:pt x="137874" y="300038"/>
                  </a:cubicBezTo>
                  <a:lnTo>
                    <a:pt x="218837" y="219075"/>
                  </a:lnTo>
                  <a:lnTo>
                    <a:pt x="299799" y="138113"/>
                  </a:lnTo>
                  <a:close/>
                  <a:moveTo>
                    <a:pt x="124539" y="124778"/>
                  </a:moveTo>
                  <a:lnTo>
                    <a:pt x="205502" y="43815"/>
                  </a:lnTo>
                  <a:cubicBezTo>
                    <a:pt x="215027" y="34290"/>
                    <a:pt x="228362" y="28575"/>
                    <a:pt x="242649" y="28575"/>
                  </a:cubicBezTo>
                  <a:cubicBezTo>
                    <a:pt x="256937" y="28575"/>
                    <a:pt x="269319" y="34290"/>
                    <a:pt x="279797" y="43815"/>
                  </a:cubicBezTo>
                  <a:cubicBezTo>
                    <a:pt x="299799" y="64770"/>
                    <a:pt x="299799" y="97155"/>
                    <a:pt x="279797" y="118110"/>
                  </a:cubicBezTo>
                  <a:lnTo>
                    <a:pt x="198834" y="199073"/>
                  </a:lnTo>
                  <a:lnTo>
                    <a:pt x="124539" y="12477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g356f0661d04_0_2131"/>
            <p:cNvSpPr/>
            <p:nvPr/>
          </p:nvSpPr>
          <p:spPr>
            <a:xfrm>
              <a:off x="9890597" y="3149123"/>
              <a:ext cx="196214" cy="197167"/>
            </a:xfrm>
            <a:custGeom>
              <a:rect b="b" l="l" r="r" t="t"/>
              <a:pathLst>
                <a:path extrusionOk="0" h="197167" w="196214">
                  <a:moveTo>
                    <a:pt x="123825" y="0"/>
                  </a:moveTo>
                  <a:cubicBezTo>
                    <a:pt x="55245" y="0"/>
                    <a:pt x="0" y="55245"/>
                    <a:pt x="0" y="123825"/>
                  </a:cubicBezTo>
                  <a:cubicBezTo>
                    <a:pt x="0" y="151448"/>
                    <a:pt x="8572" y="176213"/>
                    <a:pt x="23813" y="197168"/>
                  </a:cubicBezTo>
                  <a:lnTo>
                    <a:pt x="196215" y="24765"/>
                  </a:lnTo>
                  <a:cubicBezTo>
                    <a:pt x="176213" y="8572"/>
                    <a:pt x="151448" y="0"/>
                    <a:pt x="1238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g356f0661d04_0_2131"/>
            <p:cNvSpPr/>
            <p:nvPr/>
          </p:nvSpPr>
          <p:spPr>
            <a:xfrm>
              <a:off x="9941079" y="3199605"/>
              <a:ext cx="197167" cy="197167"/>
            </a:xfrm>
            <a:custGeom>
              <a:rect b="b" l="l" r="r" t="t"/>
              <a:pathLst>
                <a:path extrusionOk="0" h="197167" w="197167">
                  <a:moveTo>
                    <a:pt x="173355" y="0"/>
                  </a:moveTo>
                  <a:lnTo>
                    <a:pt x="0" y="173355"/>
                  </a:lnTo>
                  <a:cubicBezTo>
                    <a:pt x="20003" y="188595"/>
                    <a:pt x="45720" y="197168"/>
                    <a:pt x="73343" y="197168"/>
                  </a:cubicBezTo>
                  <a:cubicBezTo>
                    <a:pt x="141923" y="197168"/>
                    <a:pt x="197168" y="141923"/>
                    <a:pt x="197168" y="73343"/>
                  </a:cubicBezTo>
                  <a:cubicBezTo>
                    <a:pt x="197168" y="45720"/>
                    <a:pt x="188595" y="20955"/>
                    <a:pt x="1733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Cluster Analysis. Click the audio icon to hear the presentation." id="443" name="Google Shape;443;g356f0661d04_0_2131"/>
          <p:cNvSpPr txBox="1"/>
          <p:nvPr>
            <p:ph idx="4294967295" type="ctrTitle"/>
          </p:nvPr>
        </p:nvSpPr>
        <p:spPr>
          <a:xfrm>
            <a:off x="538775" y="0"/>
            <a:ext cx="85185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Country Typology Clusters- Understanding Different Vulnerability Patterns</a:t>
            </a:r>
            <a:endParaRPr/>
          </a:p>
        </p:txBody>
      </p:sp>
      <p:sp>
        <p:nvSpPr>
          <p:cNvPr id="444" name="Google Shape;444;g356f0661d04_0_2131"/>
          <p:cNvSpPr txBox="1"/>
          <p:nvPr/>
        </p:nvSpPr>
        <p:spPr>
          <a:xfrm>
            <a:off x="583875" y="6202375"/>
            <a:ext cx="39213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1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Clusters align with residual patterns</a:t>
            </a:r>
            <a:endParaRPr sz="24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445" name="Google Shape;445;g356f0661d04_0_2131"/>
          <p:cNvSpPr txBox="1"/>
          <p:nvPr>
            <p:ph idx="4294967295" type="subTitle"/>
          </p:nvPr>
        </p:nvSpPr>
        <p:spPr>
          <a:xfrm>
            <a:off x="760300" y="3839944"/>
            <a:ext cx="7433400" cy="6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Rural, mobile homes, disability, limited internet</a:t>
            </a:r>
            <a:endParaRPr sz="1400"/>
          </a:p>
        </p:txBody>
      </p:sp>
      <p:pic>
        <p:nvPicPr>
          <p:cNvPr id="446" name="Google Shape;446;g356f0661d04_0_2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163" y="1910150"/>
            <a:ext cx="4772025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56f0661d04_0_2131"/>
          <p:cNvPicPr preferRelativeResize="0"/>
          <p:nvPr/>
        </p:nvPicPr>
        <p:blipFill rotWithShape="1">
          <a:blip r:embed="rId4">
            <a:alphaModFix/>
          </a:blip>
          <a:srcRect b="33079" l="0" r="30381" t="0"/>
          <a:stretch/>
        </p:blipFill>
        <p:spPr>
          <a:xfrm>
            <a:off x="6005350" y="5356963"/>
            <a:ext cx="2188350" cy="13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56f0661d04_0_2131" title="Country Typology Clusters slide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3150" y="714343"/>
            <a:ext cx="932688" cy="93268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56f0661d04_0_2131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Conclusions. Limitations, recommendations and next steps." id="454" name="Google Shape;454;g356f0661d04_0_2260"/>
          <p:cNvSpPr txBox="1"/>
          <p:nvPr>
            <p:ph type="ctrTitle"/>
          </p:nvPr>
        </p:nvSpPr>
        <p:spPr>
          <a:xfrm>
            <a:off x="939450" y="3786489"/>
            <a:ext cx="4775400" cy="91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455" name="Google Shape;455;g356f0661d04_0_2260"/>
          <p:cNvSpPr txBox="1"/>
          <p:nvPr>
            <p:ph idx="1" type="subTitle"/>
          </p:nvPr>
        </p:nvSpPr>
        <p:spPr>
          <a:xfrm>
            <a:off x="939450" y="4734625"/>
            <a:ext cx="5396400" cy="6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Limitations, </a:t>
            </a:r>
            <a:r>
              <a:rPr lang="en-US"/>
              <a:t>recommendations</a:t>
            </a:r>
            <a:r>
              <a:rPr lang="en-US"/>
              <a:t>, and next steps</a:t>
            </a:r>
            <a:endParaRPr/>
          </a:p>
        </p:txBody>
      </p:sp>
      <p:sp>
        <p:nvSpPr>
          <p:cNvPr id="456" name="Google Shape;456;g356f0661d04_0_2260"/>
          <p:cNvSpPr txBox="1"/>
          <p:nvPr/>
        </p:nvSpPr>
        <p:spPr>
          <a:xfrm>
            <a:off x="7525" y="2781367"/>
            <a:ext cx="6627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4</a:t>
            </a:r>
            <a:endParaRPr b="1" sz="4800">
              <a:solidFill>
                <a:schemeClr val="lt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457" name="Google Shape;457;g356f0661d04_0_226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Key Findings. Click the audio icon to hear the presentation." id="462" name="Google Shape;462;g356f0661d04_0_2389"/>
          <p:cNvSpPr txBox="1"/>
          <p:nvPr>
            <p:ph idx="4294967295"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Findings</a:t>
            </a:r>
            <a:endParaRPr/>
          </a:p>
        </p:txBody>
      </p:sp>
      <p:sp>
        <p:nvSpPr>
          <p:cNvPr id="463" name="Google Shape;463;g356f0661d04_0_2389"/>
          <p:cNvSpPr/>
          <p:nvPr/>
        </p:nvSpPr>
        <p:spPr>
          <a:xfrm>
            <a:off x="866575" y="1983625"/>
            <a:ext cx="3638100" cy="18276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t" bIns="91425" lIns="91425" spcFirstLastPara="1" rIns="13716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Economic vulnerability drives hospital strain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69875" lvl="1" marL="40005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 Cycle"/>
              <a:buChar char="•"/>
            </a:pPr>
            <a:r>
              <a:rPr lang="en-US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Prioritize interventions in low-income areas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464" name="Google Shape;464;g356f0661d04_0_2389"/>
          <p:cNvSpPr/>
          <p:nvPr/>
        </p:nvSpPr>
        <p:spPr>
          <a:xfrm>
            <a:off x="4655326" y="1983633"/>
            <a:ext cx="3638100" cy="18276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t" bIns="91425" lIns="1371600" spcFirstLastPara="1" rIns="91425" wrap="square" tIns="91425">
            <a:noAutofit/>
          </a:bodyPr>
          <a:lstStyle/>
          <a:p>
            <a:pPr indent="0" lvl="0" marL="0" marR="90901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Poverty is the top predictor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60350" lvl="1" marL="0" marR="1423363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 Cycle"/>
              <a:buChar char="•"/>
            </a:pPr>
            <a:r>
              <a:rPr lang="en-US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Improving economic well-being contributes to healthier communities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465" name="Google Shape;465;g356f0661d04_0_2389"/>
          <p:cNvSpPr/>
          <p:nvPr/>
        </p:nvSpPr>
        <p:spPr>
          <a:xfrm>
            <a:off x="866575" y="4011643"/>
            <a:ext cx="3638100" cy="18276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t" bIns="91425" lIns="91425" spcFirstLastPara="1" rIns="1371600" wrap="square" tIns="91425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Healthcare access moderately influential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69875" lvl="1" marL="40005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 Cycle"/>
              <a:buChar char="•"/>
            </a:pPr>
            <a:r>
              <a:rPr lang="en-US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Investment in access can improve capacity</a:t>
            </a:r>
            <a:endParaRPr sz="15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466" name="Google Shape;466;g356f0661d04_0_2389"/>
          <p:cNvSpPr/>
          <p:nvPr/>
        </p:nvSpPr>
        <p:spPr>
          <a:xfrm>
            <a:off x="4655326" y="4011643"/>
            <a:ext cx="3638100" cy="1827600"/>
          </a:xfrm>
          <a:prstGeom prst="rect">
            <a:avLst/>
          </a:prstGeom>
          <a:solidFill>
            <a:srgbClr val="00A4CA">
              <a:alpha val="10060"/>
            </a:srgbClr>
          </a:solidFill>
          <a:ln>
            <a:noFill/>
          </a:ln>
        </p:spPr>
        <p:txBody>
          <a:bodyPr anchorCtr="0" anchor="t" bIns="91425" lIns="1371600" spcFirstLastPara="1" rIns="91425" wrap="square" tIns="91425">
            <a:noAutofit/>
          </a:bodyPr>
          <a:lstStyle/>
          <a:p>
            <a:pPr indent="0" lvl="0" marL="0" marR="851863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Regional variation is eclipsed by socioeconomic factors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69875" lvl="1" marL="0" marR="1309063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 Cycle"/>
              <a:buChar char="•"/>
            </a:pPr>
            <a:r>
              <a:rPr lang="en-US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Focus efforts on social risks before regionally targeted policies </a:t>
            </a:r>
            <a:endParaRPr sz="15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467" name="Google Shape;467;g356f0661d04_0_2389"/>
          <p:cNvPicPr preferRelativeResize="0"/>
          <p:nvPr/>
        </p:nvPicPr>
        <p:blipFill rotWithShape="1">
          <a:blip r:embed="rId3">
            <a:alphaModFix/>
          </a:blip>
          <a:srcRect b="0" l="25383" r="34125" t="0"/>
          <a:stretch/>
        </p:blipFill>
        <p:spPr>
          <a:xfrm>
            <a:off x="4489150" y="1878575"/>
            <a:ext cx="165700" cy="266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56f0661d04_0_2389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9" name="Google Shape;469;g356f0661d04_0_2389" title="Slide 17b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7300" y="474093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sychological distance RGB color icon (Provided by Getty Images)" id="474" name="Google Shape;4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300" y="3952100"/>
            <a:ext cx="2850601" cy="285060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7"/>
          <p:cNvSpPr txBox="1"/>
          <p:nvPr/>
        </p:nvSpPr>
        <p:spPr>
          <a:xfrm>
            <a:off x="170150" y="1980589"/>
            <a:ext cx="57831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Important Considerations: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Model explains ~36% of variance – not comprehensive</a:t>
            </a:r>
            <a:endParaRPr i="0" sz="1600" u="none" cap="none" strike="noStrike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Shows correlation, not causation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County-level </a:t>
            </a:r>
            <a:r>
              <a:rPr i="0" lang="en-US" sz="12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➔</a:t>
            </a: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 may miss neighborhood-level disparities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Not for individual hospital-level planning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2020 data may reflect pandemic impacts</a:t>
            </a:r>
            <a:endParaRPr i="0" sz="1600" u="none" cap="none" strike="noStrike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descr="Limitations and Cautions. Click the audio icon to hear the presentation." id="476" name="Google Shape;476;p17"/>
          <p:cNvSpPr txBox="1"/>
          <p:nvPr>
            <p:ph type="title"/>
          </p:nvPr>
        </p:nvSpPr>
        <p:spPr>
          <a:xfrm>
            <a:off x="842925" y="718442"/>
            <a:ext cx="6602100" cy="99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&amp; Cautions</a:t>
            </a:r>
            <a:endParaRPr/>
          </a:p>
        </p:txBody>
      </p:sp>
      <p:sp>
        <p:nvSpPr>
          <p:cNvPr id="477" name="Google Shape;477;p17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8" name="Google Shape;478;p17" title="Slide 18b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9425" y="457867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56f0661d04_0_2266"/>
          <p:cNvSpPr/>
          <p:nvPr/>
        </p:nvSpPr>
        <p:spPr>
          <a:xfrm>
            <a:off x="7465019" y="4968792"/>
            <a:ext cx="347441" cy="442331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4" name="Google Shape;484;g356f0661d04_0_2266"/>
          <p:cNvGrpSpPr/>
          <p:nvPr/>
        </p:nvGrpSpPr>
        <p:grpSpPr>
          <a:xfrm>
            <a:off x="7033675" y="2484582"/>
            <a:ext cx="1488469" cy="1985115"/>
            <a:chOff x="6654650" y="3665275"/>
            <a:chExt cx="409100" cy="409125"/>
          </a:xfrm>
        </p:grpSpPr>
        <p:sp>
          <p:nvSpPr>
            <p:cNvPr id="485" name="Google Shape;485;g356f0661d04_0_2266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g356f0661d04_0_2266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g356f0661d04_0_2266"/>
          <p:cNvGrpSpPr/>
          <p:nvPr/>
        </p:nvGrpSpPr>
        <p:grpSpPr>
          <a:xfrm rot="1376875">
            <a:off x="5581875" y="4058625"/>
            <a:ext cx="1017820" cy="1284799"/>
            <a:chOff x="570875" y="4322250"/>
            <a:chExt cx="443300" cy="443325"/>
          </a:xfrm>
        </p:grpSpPr>
        <p:sp>
          <p:nvSpPr>
            <p:cNvPr id="488" name="Google Shape;488;g356f0661d04_0_2266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g356f0661d04_0_2266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g356f0661d04_0_2266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g356f0661d04_0_2266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g356f0661d04_0_2266"/>
          <p:cNvSpPr/>
          <p:nvPr/>
        </p:nvSpPr>
        <p:spPr>
          <a:xfrm rot="2959672">
            <a:off x="5671977" y="2900211"/>
            <a:ext cx="558028" cy="553386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56f0661d04_0_2266"/>
          <p:cNvSpPr/>
          <p:nvPr/>
        </p:nvSpPr>
        <p:spPr>
          <a:xfrm rot="-2039170">
            <a:off x="6402355" y="3266386"/>
            <a:ext cx="373864" cy="422074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56f0661d04_0_2266"/>
          <p:cNvSpPr/>
          <p:nvPr/>
        </p:nvSpPr>
        <p:spPr>
          <a:xfrm rot="3401143">
            <a:off x="8495903" y="3628616"/>
            <a:ext cx="312196" cy="287336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56f0661d04_0_2266"/>
          <p:cNvSpPr/>
          <p:nvPr/>
        </p:nvSpPr>
        <p:spPr>
          <a:xfrm rot="-2038862">
            <a:off x="7430388" y="1394692"/>
            <a:ext cx="252256" cy="284814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Recommendations. Click the audio icon to hear the presentation." id="496" name="Google Shape;496;g356f0661d04_0_2266"/>
          <p:cNvSpPr txBox="1"/>
          <p:nvPr>
            <p:ph idx="4294967295" type="title"/>
          </p:nvPr>
        </p:nvSpPr>
        <p:spPr>
          <a:xfrm>
            <a:off x="217025" y="334142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Recommendations</a:t>
            </a:r>
            <a:endParaRPr/>
          </a:p>
        </p:txBody>
      </p:sp>
      <p:sp>
        <p:nvSpPr>
          <p:cNvPr id="497" name="Google Shape;497;g356f0661d04_0_2266"/>
          <p:cNvSpPr txBox="1"/>
          <p:nvPr/>
        </p:nvSpPr>
        <p:spPr>
          <a:xfrm>
            <a:off x="217025" y="1478775"/>
            <a:ext cx="40161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Applying These Insights: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Integrate predictions into community health assessments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Target resources to high-vulnerability counties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Address underlying social factors: 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Transportation assistance programs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Housing stability initiatives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Family support services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Use model to justify grants for underserved communities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id="498" name="Google Shape;498;g356f0661d04_0_2266" title="reccomendations slide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1575" y="334150"/>
            <a:ext cx="886250" cy="8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56f0661d04_0_2266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hank you and next steps. Four points for moving forward. Develop interactive dashboard for regional planning. Validate with newer data (2021-2023). Pilot interventions in high-risk counties. Expand to granular geographic analysis. Thank you for your time." id="504" name="Google Shape;504;p19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Thank You &amp; Next Steps</a:t>
            </a:r>
            <a:endParaRPr/>
          </a:p>
        </p:txBody>
      </p:sp>
      <p:sp>
        <p:nvSpPr>
          <p:cNvPr id="505" name="Google Shape;505;p19"/>
          <p:cNvSpPr txBox="1"/>
          <p:nvPr/>
        </p:nvSpPr>
        <p:spPr>
          <a:xfrm>
            <a:off x="457199" y="1720512"/>
            <a:ext cx="4935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Moving Forward: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Develop interactive dashboard for regional planning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Validate with newer data (2021–2023)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Pilot interventions in high-risk counties</a:t>
            </a:r>
            <a:endParaRPr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6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Expand to granular geographic analysis</a:t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pic>
        <p:nvPicPr>
          <p:cNvPr descr="thank you words written by 3d white people (Provided by Getty Images)" id="506" name="Google Shape;5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" y="3722224"/>
            <a:ext cx="2800451" cy="2100349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9"/>
          <p:cNvSpPr txBox="1"/>
          <p:nvPr/>
        </p:nvSpPr>
        <p:spPr>
          <a:xfrm>
            <a:off x="457200" y="6118425"/>
            <a:ext cx="8209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ews Cycle"/>
                <a:ea typeface="News Cycle"/>
                <a:cs typeface="News Cycle"/>
                <a:sym typeface="News Cycle"/>
              </a:rPr>
              <a:t>Full technical report https://github.com/lemieuxjm-cap/Iota-Capstone/reports/Final_Report.pdf</a:t>
            </a:r>
            <a:endParaRPr sz="15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508" name="Google Shape;508;p19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6f0661d04_0_662"/>
          <p:cNvSpPr txBox="1"/>
          <p:nvPr>
            <p:ph type="title"/>
          </p:nvPr>
        </p:nvSpPr>
        <p:spPr>
          <a:xfrm>
            <a:off x="855300" y="879267"/>
            <a:ext cx="660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514" name="Google Shape;514;g356f0661d04_0_662"/>
          <p:cNvSpPr txBox="1"/>
          <p:nvPr/>
        </p:nvSpPr>
        <p:spPr>
          <a:xfrm>
            <a:off x="457199" y="1482437"/>
            <a:ext cx="49350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ws Cycle"/>
              <a:ea typeface="News Cycle"/>
              <a:cs typeface="News Cycle"/>
              <a:sym typeface="News Cycle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200">
                <a:latin typeface="News Cycle"/>
                <a:ea typeface="News Cycle"/>
                <a:cs typeface="News Cycle"/>
                <a:sym typeface="News Cycle"/>
              </a:rPr>
              <a:t>(1)Artiga, S., &amp; Hinton, E. (2018). Beyond Health Care: The Role of Social Determinants in Promoting Health and Health Equity.</a:t>
            </a:r>
            <a:endParaRPr sz="1200">
              <a:latin typeface="News Cycle"/>
              <a:ea typeface="News Cycle"/>
              <a:cs typeface="News Cycle"/>
              <a:sym typeface="News Cycle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200">
                <a:latin typeface="News Cycle"/>
                <a:ea typeface="News Cycle"/>
                <a:cs typeface="News Cycle"/>
                <a:sym typeface="News Cycle"/>
              </a:rPr>
              <a:t>(2)Garg, S., Kim, L., Whitaker, M., &amp; et al. (2020). Hospitalization Rates and Characteristics of Patients Hospitalized with Laboratory-Confirmed Coronavirus Disease 2019 — COVID-NET</a:t>
            </a:r>
            <a:endParaRPr sz="1200">
              <a:latin typeface="News Cycle"/>
              <a:ea typeface="News Cycle"/>
              <a:cs typeface="News Cycle"/>
              <a:sym typeface="News Cycle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200">
                <a:latin typeface="News Cycle"/>
                <a:ea typeface="News Cycle"/>
                <a:cs typeface="News Cycle"/>
                <a:sym typeface="News Cycle"/>
              </a:rPr>
              <a:t>(3)Kreuter, M. W., Thompson, T., McQueen, A., &amp; Garg, R. (2021). Addressing Social Needs in Health Care Settings: Evidence, Challenges, and Opportunities for Public Health</a:t>
            </a:r>
            <a:endParaRPr sz="1200">
              <a:latin typeface="News Cycle"/>
              <a:ea typeface="News Cycle"/>
              <a:cs typeface="News Cycle"/>
              <a:sym typeface="News Cycle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ws Cycle"/>
              <a:buChar char="•"/>
            </a:pPr>
            <a:r>
              <a:rPr lang="en-US" sz="1200">
                <a:latin typeface="News Cycle"/>
                <a:ea typeface="News Cycle"/>
                <a:cs typeface="News Cycle"/>
                <a:sym typeface="News Cycle"/>
              </a:rPr>
              <a:t>(4)Magnan, S. (2017, October 9). Social Determinants of Health 101 for Health Care: Five Plus Five </a:t>
            </a:r>
            <a:endParaRPr>
              <a:latin typeface="News Cycle"/>
              <a:ea typeface="News Cycle"/>
              <a:cs typeface="News Cycle"/>
              <a:sym typeface="News Cycle"/>
            </a:endParaRPr>
          </a:p>
        </p:txBody>
      </p:sp>
      <p:sp>
        <p:nvSpPr>
          <p:cNvPr id="515" name="Google Shape;515;g356f0661d04_0_662"/>
          <p:cNvSpPr txBox="1"/>
          <p:nvPr>
            <p:ph idx="12" type="sldNum"/>
          </p:nvPr>
        </p:nvSpPr>
        <p:spPr>
          <a:xfrm>
            <a:off x="8603825" y="6307333"/>
            <a:ext cx="349200" cy="37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ynaldo template">
  <a:themeElements>
    <a:clrScheme name="Custom 347">
      <a:dk1>
        <a:srgbClr val="2C444E"/>
      </a:dk1>
      <a:lt1>
        <a:srgbClr val="FFFFFF"/>
      </a:lt1>
      <a:dk2>
        <a:srgbClr val="7D8A8D"/>
      </a:dk2>
      <a:lt2>
        <a:srgbClr val="E1E9EB"/>
      </a:lt2>
      <a:accent1>
        <a:srgbClr val="00A4CA"/>
      </a:accent1>
      <a:accent2>
        <a:srgbClr val="0082A9"/>
      </a:accent2>
      <a:accent3>
        <a:srgbClr val="8792DF"/>
      </a:accent3>
      <a:accent4>
        <a:srgbClr val="5963AF"/>
      </a:accent4>
      <a:accent5>
        <a:srgbClr val="FF712A"/>
      </a:accent5>
      <a:accent6>
        <a:srgbClr val="DF3D11"/>
      </a:accent6>
      <a:hlink>
        <a:srgbClr val="0082A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ynaldo template">
  <a:themeElements>
    <a:clrScheme name="Custom 347">
      <a:dk1>
        <a:srgbClr val="2C444E"/>
      </a:dk1>
      <a:lt1>
        <a:srgbClr val="FFFFFF"/>
      </a:lt1>
      <a:dk2>
        <a:srgbClr val="7D8A8D"/>
      </a:dk2>
      <a:lt2>
        <a:srgbClr val="E1E9EB"/>
      </a:lt2>
      <a:accent1>
        <a:srgbClr val="00A4CA"/>
      </a:accent1>
      <a:accent2>
        <a:srgbClr val="0082A9"/>
      </a:accent2>
      <a:accent3>
        <a:srgbClr val="8792DF"/>
      </a:accent3>
      <a:accent4>
        <a:srgbClr val="5963AF"/>
      </a:accent4>
      <a:accent5>
        <a:srgbClr val="FF712A"/>
      </a:accent5>
      <a:accent6>
        <a:srgbClr val="DF3D11"/>
      </a:accent6>
      <a:hlink>
        <a:srgbClr val="0082A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MEHMET COMERT</dc:creator>
</cp:coreProperties>
</file>